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4" r:id="rId9"/>
    <p:sldId id="263" r:id="rId10"/>
    <p:sldId id="265" r:id="rId11"/>
    <p:sldId id="266" r:id="rId12"/>
    <p:sldId id="267" r:id="rId13"/>
    <p:sldId id="270" r:id="rId14"/>
    <p:sldId id="271" r:id="rId15"/>
    <p:sldId id="272" r:id="rId16"/>
    <p:sldId id="273" r:id="rId17"/>
    <p:sldId id="279" r:id="rId18"/>
    <p:sldId id="280" r:id="rId19"/>
    <p:sldId id="281" r:id="rId20"/>
    <p:sldId id="275" r:id="rId21"/>
    <p:sldId id="277" r:id="rId22"/>
    <p:sldId id="276" r:id="rId23"/>
    <p:sldId id="282" r:id="rId24"/>
    <p:sldId id="27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5196" autoAdjust="0"/>
  </p:normalViewPr>
  <p:slideViewPr>
    <p:cSldViewPr snapToGrid="0">
      <p:cViewPr varScale="1">
        <p:scale>
          <a:sx n="81" d="100"/>
          <a:sy n="81" d="100"/>
        </p:scale>
        <p:origin x="744" y="6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D95BC2-223F-4845-B143-60768D28E377}" type="datetimeFigureOut">
              <a:rPr lang="en-US" smtClean="0"/>
              <a:t>8/14/2025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191C55-DBFD-4E7C-BB81-4801EB101D72}" type="slidenum">
              <a:rPr lang="en-US" smtClean="0"/>
              <a:t>‹#›</a:t>
            </a:fld>
            <a:endParaRPr lang="en-US"/>
          </a:p>
        </p:txBody>
      </p:sp>
    </p:spTree>
    <p:extLst>
      <p:ext uri="{BB962C8B-B14F-4D97-AF65-F5344CB8AC3E}">
        <p14:creationId xmlns:p14="http://schemas.microsoft.com/office/powerpoint/2010/main" val="6961530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a:t>
            </a:r>
            <a:r>
              <a:rPr lang="en-US" dirty="0" err="1"/>
              <a:t>im</a:t>
            </a:r>
            <a:r>
              <a:rPr lang="en-US" dirty="0"/>
              <a:t> </a:t>
            </a:r>
            <a:r>
              <a:rPr lang="en-US" dirty="0" err="1"/>
              <a:t>sameeha</a:t>
            </a:r>
            <a:r>
              <a:rPr lang="en-US" dirty="0"/>
              <a:t>,  In this presentation, I’ll be explaining the network design and implementation project for Redco Developments.</a:t>
            </a:r>
          </a:p>
        </p:txBody>
      </p:sp>
      <p:sp>
        <p:nvSpPr>
          <p:cNvPr id="4" name="Slide Number Placeholder 3"/>
          <p:cNvSpPr>
            <a:spLocks noGrp="1"/>
          </p:cNvSpPr>
          <p:nvPr>
            <p:ph type="sldNum" sz="quarter" idx="5"/>
          </p:nvPr>
        </p:nvSpPr>
        <p:spPr/>
        <p:txBody>
          <a:bodyPr/>
          <a:lstStyle/>
          <a:p>
            <a:fld id="{D8191C55-DBFD-4E7C-BB81-4801EB101D72}" type="slidenum">
              <a:rPr lang="en-US" smtClean="0"/>
              <a:t>1</a:t>
            </a:fld>
            <a:endParaRPr lang="en-US"/>
          </a:p>
        </p:txBody>
      </p:sp>
    </p:spTree>
    <p:extLst>
      <p:ext uri="{BB962C8B-B14F-4D97-AF65-F5344CB8AC3E}">
        <p14:creationId xmlns:p14="http://schemas.microsoft.com/office/powerpoint/2010/main" val="22990569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today we will be going through these, overview of </a:t>
            </a:r>
            <a:r>
              <a:rPr lang="en-US" dirty="0" err="1"/>
              <a:t>redco</a:t>
            </a:r>
            <a:r>
              <a:rPr lang="en-US" dirty="0"/>
              <a:t>, network, </a:t>
            </a:r>
          </a:p>
        </p:txBody>
      </p:sp>
      <p:sp>
        <p:nvSpPr>
          <p:cNvPr id="4" name="Slide Number Placeholder 3"/>
          <p:cNvSpPr>
            <a:spLocks noGrp="1"/>
          </p:cNvSpPr>
          <p:nvPr>
            <p:ph type="sldNum" sz="quarter" idx="5"/>
          </p:nvPr>
        </p:nvSpPr>
        <p:spPr/>
        <p:txBody>
          <a:bodyPr/>
          <a:lstStyle/>
          <a:p>
            <a:fld id="{D8191C55-DBFD-4E7C-BB81-4801EB101D72}" type="slidenum">
              <a:rPr lang="en-US" smtClean="0"/>
              <a:t>2</a:t>
            </a:fld>
            <a:endParaRPr lang="en-US"/>
          </a:p>
        </p:txBody>
      </p:sp>
    </p:spTree>
    <p:extLst>
      <p:ext uri="{BB962C8B-B14F-4D97-AF65-F5344CB8AC3E}">
        <p14:creationId xmlns:p14="http://schemas.microsoft.com/office/powerpoint/2010/main" val="25559260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before diving into the network design, let me briefly introduce the company. Redco Developments is a leading mobile app development company based in Sri Lanka, with its head office located in Kandy, and a new branch in Galle as well. The company focuses on creating high-quality mobile applications for top-tier clients.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network is basically a group of devices like computers, servers, and printers that are connected to share information. There are different types of networks depending on the size and distance.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Employees from different department can share their printers and files with other departments and this will reduce </a:t>
            </a:r>
            <a:r>
              <a:rPr lang="en-US" dirty="0" err="1"/>
              <a:t>redcos</a:t>
            </a:r>
            <a:r>
              <a:rPr lang="en-US" dirty="0"/>
              <a:t> expenses, as multiple printers do not have to be purchased</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Centralized management, means passwords and permission can be managed from a single location, giving the company full control</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Flexibility, </a:t>
            </a:r>
            <a:r>
              <a:rPr lang="en-US" dirty="0" err="1"/>
              <a:t>redco</a:t>
            </a:r>
            <a:r>
              <a:rPr lang="en-US" dirty="0"/>
              <a:t> can easily add new branches and department without having to redo the entire network</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Easy communication for example branches can easily communicate, anywhere anytime, and the team can have video conferencing as well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D8191C55-DBFD-4E7C-BB81-4801EB101D72}" type="slidenum">
              <a:rPr lang="en-US" smtClean="0"/>
              <a:t>3</a:t>
            </a:fld>
            <a:endParaRPr lang="en-US"/>
          </a:p>
        </p:txBody>
      </p:sp>
    </p:spTree>
    <p:extLst>
      <p:ext uri="{BB962C8B-B14F-4D97-AF65-F5344CB8AC3E}">
        <p14:creationId xmlns:p14="http://schemas.microsoft.com/office/powerpoint/2010/main" val="9963183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Types of network</a:t>
            </a:r>
          </a:p>
          <a:p>
            <a:r>
              <a:rPr lang="en-US" dirty="0"/>
              <a:t>At first, we have LAN </a:t>
            </a:r>
          </a:p>
        </p:txBody>
      </p:sp>
      <p:sp>
        <p:nvSpPr>
          <p:cNvPr id="4" name="Slide Number Placeholder 3"/>
          <p:cNvSpPr>
            <a:spLocks noGrp="1"/>
          </p:cNvSpPr>
          <p:nvPr>
            <p:ph type="sldNum" sz="quarter" idx="5"/>
          </p:nvPr>
        </p:nvSpPr>
        <p:spPr/>
        <p:txBody>
          <a:bodyPr/>
          <a:lstStyle/>
          <a:p>
            <a:fld id="{D8191C55-DBFD-4E7C-BB81-4801EB101D72}" type="slidenum">
              <a:rPr lang="en-US" smtClean="0"/>
              <a:t>4</a:t>
            </a:fld>
            <a:endParaRPr lang="en-US"/>
          </a:p>
        </p:txBody>
      </p:sp>
    </p:spTree>
    <p:extLst>
      <p:ext uri="{BB962C8B-B14F-4D97-AF65-F5344CB8AC3E}">
        <p14:creationId xmlns:p14="http://schemas.microsoft.com/office/powerpoint/2010/main" val="38223484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ones are LAN, WAN, and MAN. LAN, or Local Area Network, is used within a building—like in our case, for both the Kandy and Galle offices. Since both buildings are far apart in two different cities, I chose a WAN, or Wide Area Network, to connect the two LANs. This makes sure that both branches can communicate and share data securely over a wider distance.</a:t>
            </a:r>
          </a:p>
        </p:txBody>
      </p:sp>
      <p:sp>
        <p:nvSpPr>
          <p:cNvPr id="4" name="Slide Number Placeholder 3"/>
          <p:cNvSpPr>
            <a:spLocks noGrp="1"/>
          </p:cNvSpPr>
          <p:nvPr>
            <p:ph type="sldNum" sz="quarter" idx="5"/>
          </p:nvPr>
        </p:nvSpPr>
        <p:spPr/>
        <p:txBody>
          <a:bodyPr/>
          <a:lstStyle/>
          <a:p>
            <a:fld id="{D8191C55-DBFD-4E7C-BB81-4801EB101D72}" type="slidenum">
              <a:rPr lang="en-US" smtClean="0"/>
              <a:t>5</a:t>
            </a:fld>
            <a:endParaRPr lang="en-US"/>
          </a:p>
        </p:txBody>
      </p:sp>
    </p:spTree>
    <p:extLst>
      <p:ext uri="{BB962C8B-B14F-4D97-AF65-F5344CB8AC3E}">
        <p14:creationId xmlns:p14="http://schemas.microsoft.com/office/powerpoint/2010/main" val="10981682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 topology is basically how all the devices in a network are connected and how data flows between them.</a:t>
            </a:r>
          </a:p>
          <a:p>
            <a:endParaRPr lang="en-US" dirty="0"/>
          </a:p>
          <a:p>
            <a:r>
              <a:rPr lang="en-US" b="1" dirty="0"/>
              <a:t>Bus</a:t>
            </a:r>
            <a:r>
              <a:rPr lang="en-US" dirty="0"/>
              <a:t>, where everything connects to a single cable,</a:t>
            </a:r>
          </a:p>
          <a:p>
            <a:r>
              <a:rPr lang="en-US" b="1" dirty="0"/>
              <a:t>Star</a:t>
            </a:r>
            <a:r>
              <a:rPr lang="en-US" dirty="0"/>
              <a:t>, where each device connects to a central hub or switch,</a:t>
            </a:r>
          </a:p>
          <a:p>
            <a:r>
              <a:rPr lang="en-US" b="1" dirty="0"/>
              <a:t>Ring</a:t>
            </a:r>
            <a:r>
              <a:rPr lang="en-US" dirty="0"/>
              <a:t>, where devices form a circle and pass data in one direction,</a:t>
            </a:r>
          </a:p>
          <a:p>
            <a:r>
              <a:rPr lang="en-US" b="1" dirty="0"/>
              <a:t>Mesh</a:t>
            </a:r>
            <a:r>
              <a:rPr lang="en-US" dirty="0"/>
              <a:t>, where everything is connected to everything for high reliability, and</a:t>
            </a:r>
          </a:p>
          <a:p>
            <a:r>
              <a:rPr lang="en-US" b="1" dirty="0"/>
              <a:t>Hybrid</a:t>
            </a:r>
            <a:r>
              <a:rPr lang="en-US" dirty="0"/>
              <a:t>, which combines two or more types.</a:t>
            </a:r>
          </a:p>
          <a:p>
            <a:endParaRPr lang="en-US" dirty="0"/>
          </a:p>
          <a:p>
            <a:r>
              <a:rPr lang="en-US" dirty="0"/>
              <a:t>For Redco, I chose a </a:t>
            </a:r>
            <a:r>
              <a:rPr lang="en-US" b="1" dirty="0"/>
              <a:t>Star topology</a:t>
            </a:r>
            <a:r>
              <a:rPr lang="en-US" dirty="0"/>
              <a:t> with a </a:t>
            </a:r>
            <a:r>
              <a:rPr lang="en-US" b="1" dirty="0"/>
              <a:t>Hierarchical structure</a:t>
            </a:r>
            <a:r>
              <a:rPr lang="en-US" dirty="0"/>
              <a:t>. Each floor has its own access switch that connects to a central switch or router. This makes the network easier to manage, isolate issues, and expand in the future as Redco adds more staff or devices.</a:t>
            </a:r>
          </a:p>
          <a:p>
            <a:endParaRPr lang="en-US" dirty="0"/>
          </a:p>
        </p:txBody>
      </p:sp>
      <p:sp>
        <p:nvSpPr>
          <p:cNvPr id="4" name="Slide Number Placeholder 3"/>
          <p:cNvSpPr>
            <a:spLocks noGrp="1"/>
          </p:cNvSpPr>
          <p:nvPr>
            <p:ph type="sldNum" sz="quarter" idx="5"/>
          </p:nvPr>
        </p:nvSpPr>
        <p:spPr/>
        <p:txBody>
          <a:bodyPr/>
          <a:lstStyle/>
          <a:p>
            <a:fld id="{D8191C55-DBFD-4E7C-BB81-4801EB101D72}" type="slidenum">
              <a:rPr lang="en-US" smtClean="0"/>
              <a:t>6</a:t>
            </a:fld>
            <a:endParaRPr lang="en-US"/>
          </a:p>
        </p:txBody>
      </p:sp>
    </p:spTree>
    <p:extLst>
      <p:ext uri="{BB962C8B-B14F-4D97-AF65-F5344CB8AC3E}">
        <p14:creationId xmlns:p14="http://schemas.microsoft.com/office/powerpoint/2010/main" val="11398349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Redco’s network, I selected devices based on the needs of both the Kandy HQ and the Galle branch.</a:t>
            </a:r>
          </a:p>
          <a:p>
            <a:endParaRPr lang="en-US" dirty="0"/>
          </a:p>
          <a:p>
            <a:r>
              <a:rPr lang="en-US" b="1" dirty="0"/>
              <a:t>Cisco Routers</a:t>
            </a:r>
            <a:r>
              <a:rPr lang="en-US" dirty="0"/>
              <a:t> are used to connect the Kandy and Galle branches. This helps both offices share data safely.</a:t>
            </a:r>
          </a:p>
          <a:p>
            <a:r>
              <a:rPr lang="en-US" b="1" dirty="0"/>
              <a:t>Layer 3 Switches</a:t>
            </a:r>
            <a:r>
              <a:rPr lang="en-US" dirty="0"/>
              <a:t> help different departments (VLANs) talk to each other inside the network. They also act like smart switches.</a:t>
            </a:r>
          </a:p>
          <a:p>
            <a:r>
              <a:rPr lang="en-US" b="1" dirty="0"/>
              <a:t>Layer 2 Access Switches</a:t>
            </a:r>
            <a:r>
              <a:rPr lang="en-US" dirty="0"/>
              <a:t> connect PCs, printers, and other devices to the network on each floor.</a:t>
            </a:r>
          </a:p>
          <a:p>
            <a:endParaRPr lang="en-US" dirty="0"/>
          </a:p>
        </p:txBody>
      </p:sp>
      <p:sp>
        <p:nvSpPr>
          <p:cNvPr id="4" name="Slide Number Placeholder 3"/>
          <p:cNvSpPr>
            <a:spLocks noGrp="1"/>
          </p:cNvSpPr>
          <p:nvPr>
            <p:ph type="sldNum" sz="quarter" idx="5"/>
          </p:nvPr>
        </p:nvSpPr>
        <p:spPr/>
        <p:txBody>
          <a:bodyPr/>
          <a:lstStyle/>
          <a:p>
            <a:fld id="{D8191C55-DBFD-4E7C-BB81-4801EB101D72}" type="slidenum">
              <a:rPr lang="en-US" smtClean="0"/>
              <a:t>7</a:t>
            </a:fld>
            <a:endParaRPr lang="en-US"/>
          </a:p>
        </p:txBody>
      </p:sp>
    </p:spTree>
    <p:extLst>
      <p:ext uri="{BB962C8B-B14F-4D97-AF65-F5344CB8AC3E}">
        <p14:creationId xmlns:p14="http://schemas.microsoft.com/office/powerpoint/2010/main" val="13348383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Cisco Access Points</a:t>
            </a:r>
            <a:r>
              <a:rPr lang="en-US" dirty="0"/>
              <a:t> give Wi-Fi access in areas like the reception, boardroom, and customer service area. These are secured with Wi-Fi passwords.</a:t>
            </a:r>
          </a:p>
          <a:p>
            <a:r>
              <a:rPr lang="en-US" b="1" dirty="0"/>
              <a:t>Servers</a:t>
            </a:r>
            <a:r>
              <a:rPr lang="en-US" dirty="0"/>
              <a:t> are used to give services like IP addresses (DHCP), website names (DNS), file storage, ERP, and backups.</a:t>
            </a:r>
          </a:p>
          <a:p>
            <a:r>
              <a:rPr lang="en-US" b="1" dirty="0"/>
              <a:t>IP Cameras</a:t>
            </a:r>
            <a:r>
              <a:rPr lang="en-US" dirty="0"/>
              <a:t> are installed on both floors of the Galle branch to improve security. They can be viewed from anywhere on the network.</a:t>
            </a:r>
          </a:p>
          <a:p>
            <a:r>
              <a:rPr lang="en-US" dirty="0"/>
              <a:t>All these devices work together to make Redco’s network fast, secure, and easy to manage.</a:t>
            </a:r>
          </a:p>
          <a:p>
            <a:endParaRPr lang="en-US" dirty="0"/>
          </a:p>
        </p:txBody>
      </p:sp>
      <p:sp>
        <p:nvSpPr>
          <p:cNvPr id="4" name="Slide Number Placeholder 3"/>
          <p:cNvSpPr>
            <a:spLocks noGrp="1"/>
          </p:cNvSpPr>
          <p:nvPr>
            <p:ph type="sldNum" sz="quarter" idx="5"/>
          </p:nvPr>
        </p:nvSpPr>
        <p:spPr/>
        <p:txBody>
          <a:bodyPr/>
          <a:lstStyle/>
          <a:p>
            <a:fld id="{D8191C55-DBFD-4E7C-BB81-4801EB101D72}" type="slidenum">
              <a:rPr lang="en-US" smtClean="0"/>
              <a:t>8</a:t>
            </a:fld>
            <a:endParaRPr lang="en-US"/>
          </a:p>
        </p:txBody>
      </p:sp>
    </p:spTree>
    <p:extLst>
      <p:ext uri="{BB962C8B-B14F-4D97-AF65-F5344CB8AC3E}">
        <p14:creationId xmlns:p14="http://schemas.microsoft.com/office/powerpoint/2010/main" val="20548378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plan and test the network before implementation, I used different tools."</a:t>
            </a:r>
          </a:p>
          <a:p>
            <a:r>
              <a:rPr lang="en-US" b="1" dirty="0"/>
              <a:t>Cisco Packet Tracer</a:t>
            </a:r>
            <a:r>
              <a:rPr lang="en-US" dirty="0"/>
              <a:t> was the main tool I used to build and test the network. It helped me connect PCs, servers, and routers, and set up the network across departments, floors, and branches.</a:t>
            </a:r>
          </a:p>
          <a:p>
            <a:r>
              <a:rPr lang="en-US" b="1" dirty="0"/>
              <a:t>Microsoft Visio</a:t>
            </a:r>
            <a:r>
              <a:rPr lang="en-US" dirty="0"/>
              <a:t> was used to draw the full network design clearly. It includes all the devices like PCs, IP cameras, and routers, and shows how they are divided by floors and branches. This diagram helped me plan before building it in Packet Tracer.</a:t>
            </a:r>
          </a:p>
          <a:p>
            <a:endParaRPr lang="en-US" dirty="0"/>
          </a:p>
        </p:txBody>
      </p:sp>
      <p:sp>
        <p:nvSpPr>
          <p:cNvPr id="4" name="Slide Number Placeholder 3"/>
          <p:cNvSpPr>
            <a:spLocks noGrp="1"/>
          </p:cNvSpPr>
          <p:nvPr>
            <p:ph type="sldNum" sz="quarter" idx="5"/>
          </p:nvPr>
        </p:nvSpPr>
        <p:spPr/>
        <p:txBody>
          <a:bodyPr/>
          <a:lstStyle/>
          <a:p>
            <a:fld id="{D8191C55-DBFD-4E7C-BB81-4801EB101D72}" type="slidenum">
              <a:rPr lang="en-US" smtClean="0"/>
              <a:t>9</a:t>
            </a:fld>
            <a:endParaRPr lang="en-US"/>
          </a:p>
        </p:txBody>
      </p:sp>
    </p:spTree>
    <p:extLst>
      <p:ext uri="{BB962C8B-B14F-4D97-AF65-F5344CB8AC3E}">
        <p14:creationId xmlns:p14="http://schemas.microsoft.com/office/powerpoint/2010/main" val="28998170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Wireshark</a:t>
            </a:r>
            <a:r>
              <a:rPr lang="en-US" dirty="0"/>
              <a:t> helped me check the data packets in the network. I used it to make sure the network was working properly and that devices were talking to each other with no errors.</a:t>
            </a:r>
          </a:p>
          <a:p>
            <a:r>
              <a:rPr lang="en-US" b="1" dirty="0"/>
              <a:t>Oracle VirtualBox</a:t>
            </a:r>
            <a:r>
              <a:rPr lang="en-US" dirty="0"/>
              <a:t> was used to make a virtual lab. In this lab, I installed Windows Server to test server roles like DHCP and DNS.</a:t>
            </a:r>
          </a:p>
          <a:p>
            <a:r>
              <a:rPr lang="en-US" b="1" dirty="0"/>
              <a:t>Windows Server 2012</a:t>
            </a:r>
            <a:r>
              <a:rPr lang="en-US" dirty="0"/>
              <a:t> used manage users and give network services like IP addresses (DHCP) and name resolution (DNS).</a:t>
            </a:r>
            <a:br>
              <a:rPr lang="en-US" dirty="0"/>
            </a:br>
            <a:r>
              <a:rPr lang="en-US" dirty="0"/>
              <a:t>It helps control and manage the whole network from one place</a:t>
            </a:r>
          </a:p>
          <a:p>
            <a:endParaRPr lang="en-US" dirty="0"/>
          </a:p>
        </p:txBody>
      </p:sp>
      <p:sp>
        <p:nvSpPr>
          <p:cNvPr id="4" name="Slide Number Placeholder 3"/>
          <p:cNvSpPr>
            <a:spLocks noGrp="1"/>
          </p:cNvSpPr>
          <p:nvPr>
            <p:ph type="sldNum" sz="quarter" idx="5"/>
          </p:nvPr>
        </p:nvSpPr>
        <p:spPr/>
        <p:txBody>
          <a:bodyPr/>
          <a:lstStyle/>
          <a:p>
            <a:fld id="{D8191C55-DBFD-4E7C-BB81-4801EB101D72}" type="slidenum">
              <a:rPr lang="en-US" smtClean="0"/>
              <a:t>10</a:t>
            </a:fld>
            <a:endParaRPr lang="en-US"/>
          </a:p>
        </p:txBody>
      </p:sp>
    </p:spTree>
    <p:extLst>
      <p:ext uri="{BB962C8B-B14F-4D97-AF65-F5344CB8AC3E}">
        <p14:creationId xmlns:p14="http://schemas.microsoft.com/office/powerpoint/2010/main" val="35568565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protect Redco’s sensitive data and ensure secure communication between branches, I included key technologies like Firewalls, a DMZ, and VPNs.”</a:t>
            </a:r>
          </a:p>
          <a:p>
            <a:r>
              <a:rPr lang="en-US" dirty="0"/>
              <a:t>“A </a:t>
            </a:r>
            <a:r>
              <a:rPr lang="en-US" b="1" dirty="0"/>
              <a:t>Firewall, </a:t>
            </a:r>
            <a:r>
              <a:rPr lang="en-US" dirty="0"/>
              <a:t>A firewall is like a security guard. It blocks unwanted traffic and keeps the </a:t>
            </a:r>
            <a:r>
              <a:rPr lang="en-US" dirty="0" err="1"/>
              <a:t>Redcos</a:t>
            </a:r>
            <a:r>
              <a:rPr lang="en-US" dirty="0"/>
              <a:t> network safe from hackers, trying to access clients data</a:t>
            </a:r>
          </a:p>
          <a:p>
            <a:endParaRPr lang="en-US" dirty="0"/>
          </a:p>
          <a:p>
            <a:r>
              <a:rPr lang="en-US" dirty="0"/>
              <a:t>“I also added a </a:t>
            </a:r>
            <a:r>
              <a:rPr lang="en-US" b="1" dirty="0"/>
              <a:t>DMZ</a:t>
            </a:r>
            <a:r>
              <a:rPr lang="en-US" dirty="0"/>
              <a:t>, or Demilitarized Zone. This is where public-facing servers like the company website or email can sit—separated from the internal network—to reduce risk if they’re attacked.”</a:t>
            </a:r>
          </a:p>
          <a:p>
            <a:r>
              <a:rPr lang="en-US" dirty="0"/>
              <a:t>“A </a:t>
            </a:r>
            <a:r>
              <a:rPr lang="en-US" b="1" dirty="0"/>
              <a:t>VPN</a:t>
            </a:r>
            <a:r>
              <a:rPr lang="en-US" dirty="0"/>
              <a:t> lets remote employees or the Galle branch connect securely to the Kandy HQ. All the data sent over VPN is encrypted, so even if someone tries to intercept it, they won’t be able to read it.”</a:t>
            </a:r>
          </a:p>
          <a:p>
            <a:r>
              <a:rPr lang="en-US" dirty="0"/>
              <a:t>“These technologies help Redco operate securely, support growth, and keep their data safe—especially with remote access and future expansion in mind</a:t>
            </a:r>
          </a:p>
          <a:p>
            <a:endParaRPr lang="en-US" dirty="0"/>
          </a:p>
        </p:txBody>
      </p:sp>
      <p:sp>
        <p:nvSpPr>
          <p:cNvPr id="4" name="Slide Number Placeholder 3"/>
          <p:cNvSpPr>
            <a:spLocks noGrp="1"/>
          </p:cNvSpPr>
          <p:nvPr>
            <p:ph type="sldNum" sz="quarter" idx="5"/>
          </p:nvPr>
        </p:nvSpPr>
        <p:spPr/>
        <p:txBody>
          <a:bodyPr/>
          <a:lstStyle/>
          <a:p>
            <a:fld id="{D8191C55-DBFD-4E7C-BB81-4801EB101D72}" type="slidenum">
              <a:rPr lang="en-US" smtClean="0"/>
              <a:t>11</a:t>
            </a:fld>
            <a:endParaRPr lang="en-US"/>
          </a:p>
        </p:txBody>
      </p:sp>
    </p:spTree>
    <p:extLst>
      <p:ext uri="{BB962C8B-B14F-4D97-AF65-F5344CB8AC3E}">
        <p14:creationId xmlns:p14="http://schemas.microsoft.com/office/powerpoint/2010/main" val="20547211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network diagram I created for Redco Developments using Microsoft Visio. It shows how both the Kandy head office and Galle branch are connected through a WAN link.”</a:t>
            </a:r>
          </a:p>
          <a:p>
            <a:r>
              <a:rPr lang="en-US" dirty="0"/>
              <a:t>“Inside each location, I included all the important devices like routers, Layer 3 switches, wireless access points, servers, and end devices such as PCs and IP phones.”</a:t>
            </a:r>
          </a:p>
          <a:p>
            <a:r>
              <a:rPr lang="en-US" dirty="0"/>
              <a:t>“I also used VLANs to separate departments like HR, Finance, and Admin, which helps improve performance and security in the network.”</a:t>
            </a:r>
          </a:p>
          <a:p>
            <a:r>
              <a:rPr lang="en-US" dirty="0"/>
              <a:t>“This diagram helped me plan the structure of the network before I started the actual setup. It shows both the physical and logical layout, and it's useful for future updates or troubleshooting.”</a:t>
            </a:r>
          </a:p>
          <a:p>
            <a:endParaRPr lang="en-US" dirty="0"/>
          </a:p>
        </p:txBody>
      </p:sp>
      <p:sp>
        <p:nvSpPr>
          <p:cNvPr id="4" name="Slide Number Placeholder 3"/>
          <p:cNvSpPr>
            <a:spLocks noGrp="1"/>
          </p:cNvSpPr>
          <p:nvPr>
            <p:ph type="sldNum" sz="quarter" idx="5"/>
          </p:nvPr>
        </p:nvSpPr>
        <p:spPr/>
        <p:txBody>
          <a:bodyPr/>
          <a:lstStyle/>
          <a:p>
            <a:fld id="{D8191C55-DBFD-4E7C-BB81-4801EB101D72}" type="slidenum">
              <a:rPr lang="en-US" smtClean="0"/>
              <a:t>12</a:t>
            </a:fld>
            <a:endParaRPr lang="en-US"/>
          </a:p>
        </p:txBody>
      </p:sp>
    </p:spTree>
    <p:extLst>
      <p:ext uri="{BB962C8B-B14F-4D97-AF65-F5344CB8AC3E}">
        <p14:creationId xmlns:p14="http://schemas.microsoft.com/office/powerpoint/2010/main" val="35304958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Cisco Packet Tracer to create a full simulation of Redco’s network, based on the Visio diagram I showed earlier.”</a:t>
            </a:r>
          </a:p>
          <a:p>
            <a:r>
              <a:rPr lang="en-US" dirty="0"/>
              <a:t>“The simulation includes the Kandy headquarters and the Galle branch, connected through a router-to-router WAN setup.”</a:t>
            </a:r>
          </a:p>
          <a:p>
            <a:r>
              <a:rPr lang="en-US" dirty="0"/>
              <a:t>“I configured VLANs for each department, enabled DHCP where needed, and assigned static IPs for critical devices like servers.”</a:t>
            </a:r>
          </a:p>
          <a:p>
            <a:r>
              <a:rPr lang="en-US" dirty="0"/>
              <a:t>“I also set up inter-VLAN routing and added wireless access points for mobile users and devices.”</a:t>
            </a:r>
          </a:p>
          <a:p>
            <a:r>
              <a:rPr lang="en-US" dirty="0"/>
              <a:t>“To make sure everything worked, I used ping and traceroute commands to test the connection between devices, VLANs, and even between branches.”</a:t>
            </a:r>
          </a:p>
          <a:p>
            <a:r>
              <a:rPr lang="en-US" dirty="0"/>
              <a:t>“This helped me confirm that the network is working correctly and ready for real-world deployment</a:t>
            </a:r>
          </a:p>
          <a:p>
            <a:endParaRPr lang="en-US" dirty="0"/>
          </a:p>
        </p:txBody>
      </p:sp>
      <p:sp>
        <p:nvSpPr>
          <p:cNvPr id="4" name="Slide Number Placeholder 3"/>
          <p:cNvSpPr>
            <a:spLocks noGrp="1"/>
          </p:cNvSpPr>
          <p:nvPr>
            <p:ph type="sldNum" sz="quarter" idx="5"/>
          </p:nvPr>
        </p:nvSpPr>
        <p:spPr/>
        <p:txBody>
          <a:bodyPr/>
          <a:lstStyle/>
          <a:p>
            <a:fld id="{D8191C55-DBFD-4E7C-BB81-4801EB101D72}" type="slidenum">
              <a:rPr lang="en-US" smtClean="0"/>
              <a:t>13</a:t>
            </a:fld>
            <a:endParaRPr lang="en-US"/>
          </a:p>
        </p:txBody>
      </p:sp>
    </p:spTree>
    <p:extLst>
      <p:ext uri="{BB962C8B-B14F-4D97-AF65-F5344CB8AC3E}">
        <p14:creationId xmlns:p14="http://schemas.microsoft.com/office/powerpoint/2010/main" val="10104934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results of IP ping tests done between different PCs in the network.</a:t>
            </a:r>
          </a:p>
          <a:p>
            <a:r>
              <a:rPr lang="en-US" dirty="0"/>
              <a:t>By using the command prompt in Cisco Packet Tracer, I sent pings from one device to another to check if they could successfully communicate.</a:t>
            </a:r>
          </a:p>
          <a:p>
            <a:r>
              <a:rPr lang="en-US" dirty="0"/>
              <a:t>The replies in the screenshots show that the devices are properly connected and the network setup is working as expected.</a:t>
            </a:r>
          </a:p>
          <a:p>
            <a:r>
              <a:rPr lang="en-US" dirty="0"/>
              <a:t>It also confirms that the IP addresses have been assigned correctly and that the devices can reach each other over the network.</a:t>
            </a:r>
          </a:p>
          <a:p>
            <a:endParaRPr lang="en-US" dirty="0"/>
          </a:p>
        </p:txBody>
      </p:sp>
      <p:sp>
        <p:nvSpPr>
          <p:cNvPr id="4" name="Slide Number Placeholder 3"/>
          <p:cNvSpPr>
            <a:spLocks noGrp="1"/>
          </p:cNvSpPr>
          <p:nvPr>
            <p:ph type="sldNum" sz="quarter" idx="5"/>
          </p:nvPr>
        </p:nvSpPr>
        <p:spPr/>
        <p:txBody>
          <a:bodyPr/>
          <a:lstStyle/>
          <a:p>
            <a:fld id="{D8191C55-DBFD-4E7C-BB81-4801EB101D72}" type="slidenum">
              <a:rPr lang="en-US" smtClean="0"/>
              <a:t>14</a:t>
            </a:fld>
            <a:endParaRPr lang="en-US"/>
          </a:p>
        </p:txBody>
      </p:sp>
    </p:spTree>
    <p:extLst>
      <p:ext uri="{BB962C8B-B14F-4D97-AF65-F5344CB8AC3E}">
        <p14:creationId xmlns:p14="http://schemas.microsoft.com/office/powerpoint/2010/main" val="37844748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test, I checked if devices inside the </a:t>
            </a:r>
            <a:r>
              <a:rPr lang="en-US" b="1" dirty="0"/>
              <a:t>Galle branch</a:t>
            </a:r>
            <a:r>
              <a:rPr lang="en-US" dirty="0"/>
              <a:t> can talk to each other properly.</a:t>
            </a:r>
          </a:p>
          <a:p>
            <a:r>
              <a:rPr lang="en-US" dirty="0"/>
              <a:t>I used </a:t>
            </a:r>
            <a:r>
              <a:rPr lang="en-US" b="1" dirty="0"/>
              <a:t>ping</a:t>
            </a:r>
            <a:r>
              <a:rPr lang="en-US" dirty="0"/>
              <a:t> in Packet Tracer to test communication between PCs in the </a:t>
            </a:r>
            <a:r>
              <a:rPr lang="en-US" b="1" dirty="0"/>
              <a:t>same department</a:t>
            </a:r>
            <a:r>
              <a:rPr lang="en-US" dirty="0"/>
              <a:t>.</a:t>
            </a:r>
          </a:p>
          <a:p>
            <a:r>
              <a:rPr lang="en-US" dirty="0"/>
              <a:t>For example, I pinged from </a:t>
            </a:r>
            <a:r>
              <a:rPr lang="en-US" b="1" dirty="0"/>
              <a:t>Admin-PC2 to Admin-PC10</a:t>
            </a:r>
            <a:r>
              <a:rPr lang="en-US" dirty="0"/>
              <a:t> and also between PCs in </a:t>
            </a:r>
            <a:r>
              <a:rPr lang="en-US" b="1" dirty="0"/>
              <a:t>Accounts, IT</a:t>
            </a:r>
            <a:r>
              <a:rPr lang="en-US" dirty="0"/>
              <a:t>, and the </a:t>
            </a:r>
            <a:r>
              <a:rPr lang="en-US" b="1" dirty="0"/>
              <a:t>Reception</a:t>
            </a:r>
            <a:r>
              <a:rPr lang="en-US" dirty="0"/>
              <a:t> area.</a:t>
            </a:r>
          </a:p>
          <a:p>
            <a:r>
              <a:rPr lang="en-US" dirty="0"/>
              <a:t>Since all the devices are in the same VLAN, this test helps confirm that </a:t>
            </a:r>
            <a:r>
              <a:rPr lang="en-US" b="1" dirty="0"/>
              <a:t>VLAN configuration, switching, and DHCP</a:t>
            </a:r>
            <a:r>
              <a:rPr lang="en-US" dirty="0"/>
              <a:t> are working correctly.</a:t>
            </a:r>
          </a:p>
          <a:p>
            <a:r>
              <a:rPr lang="en-US" dirty="0"/>
              <a:t>All the ping tests were successful, which means the internal network is working fine and devices can share files or access services easily</a:t>
            </a:r>
          </a:p>
          <a:p>
            <a:endParaRPr lang="en-US" dirty="0"/>
          </a:p>
        </p:txBody>
      </p:sp>
      <p:sp>
        <p:nvSpPr>
          <p:cNvPr id="4" name="Slide Number Placeholder 3"/>
          <p:cNvSpPr>
            <a:spLocks noGrp="1"/>
          </p:cNvSpPr>
          <p:nvPr>
            <p:ph type="sldNum" sz="quarter" idx="5"/>
          </p:nvPr>
        </p:nvSpPr>
        <p:spPr/>
        <p:txBody>
          <a:bodyPr/>
          <a:lstStyle/>
          <a:p>
            <a:fld id="{D8191C55-DBFD-4E7C-BB81-4801EB101D72}" type="slidenum">
              <a:rPr lang="en-US" smtClean="0"/>
              <a:t>16</a:t>
            </a:fld>
            <a:endParaRPr lang="en-US"/>
          </a:p>
        </p:txBody>
      </p:sp>
    </p:spTree>
    <p:extLst>
      <p:ext uri="{BB962C8B-B14F-4D97-AF65-F5344CB8AC3E}">
        <p14:creationId xmlns:p14="http://schemas.microsoft.com/office/powerpoint/2010/main" val="21006687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Active Directory is like the brain of a Windows-based network. It stores all information about users, computers, and devices.</a:t>
            </a:r>
            <a:br>
              <a:rPr lang="en-US" dirty="0"/>
            </a:br>
            <a:r>
              <a:rPr lang="en-US" dirty="0"/>
              <a:t>With AD, admins can easily control who can access what, apply security rules, and organize departments into units.</a:t>
            </a:r>
            <a:br>
              <a:rPr lang="en-US" dirty="0"/>
            </a:br>
            <a:r>
              <a:rPr lang="en-US" dirty="0"/>
              <a:t>This is useful in companies like Redco to manage hundreds of users and apply settings from one place.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installed Windows Server 2019 in VirtualBox and added the Active Directory Domain Services role.</a:t>
            </a:r>
            <a:br>
              <a:rPr lang="en-US" dirty="0"/>
            </a:br>
            <a:r>
              <a:rPr lang="en-US" dirty="0"/>
              <a:t>Then, I promoted the server to a domain controller with the domain name </a:t>
            </a:r>
            <a:r>
              <a:rPr lang="en-US" dirty="0" err="1"/>
              <a:t>redco.local</a:t>
            </a:r>
            <a:r>
              <a:rPr lang="en-US" dirty="0"/>
              <a:t>.</a:t>
            </a:r>
            <a:br>
              <a:rPr lang="en-US" dirty="0"/>
            </a:br>
            <a:r>
              <a:rPr lang="en-US" dirty="0"/>
              <a:t>This is the central point where users and devices will be managed.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D8191C55-DBFD-4E7C-BB81-4801EB101D72}" type="slidenum">
              <a:rPr lang="en-US" smtClean="0"/>
              <a:t>20</a:t>
            </a:fld>
            <a:endParaRPr lang="en-US"/>
          </a:p>
        </p:txBody>
      </p:sp>
    </p:spTree>
    <p:extLst>
      <p:ext uri="{BB962C8B-B14F-4D97-AF65-F5344CB8AC3E}">
        <p14:creationId xmlns:p14="http://schemas.microsoft.com/office/powerpoint/2010/main" val="35505935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created OUs (Organizational Units) for each department, like HR, IT, Developers, and so on.</a:t>
            </a:r>
            <a:br>
              <a:rPr lang="en-US" dirty="0"/>
            </a:br>
            <a:r>
              <a:rPr lang="en-US" dirty="0"/>
              <a:t>These help keep everything organized.</a:t>
            </a:r>
            <a:br>
              <a:rPr lang="en-US" dirty="0"/>
            </a:br>
            <a:r>
              <a:rPr lang="en-US" dirty="0"/>
              <a:t>For example, I can apply different password policies or software restrictions to the IT OU without affecting others.</a:t>
            </a:r>
            <a:br>
              <a:rPr lang="en-US" dirty="0"/>
            </a:br>
            <a:r>
              <a:rPr lang="en-US" dirty="0"/>
              <a:t>I also added users inside each OU to simulate the real Redco company setup.</a:t>
            </a:r>
          </a:p>
        </p:txBody>
      </p:sp>
      <p:sp>
        <p:nvSpPr>
          <p:cNvPr id="4" name="Slide Number Placeholder 3"/>
          <p:cNvSpPr>
            <a:spLocks noGrp="1"/>
          </p:cNvSpPr>
          <p:nvPr>
            <p:ph type="sldNum" sz="quarter" idx="5"/>
          </p:nvPr>
        </p:nvSpPr>
        <p:spPr/>
        <p:txBody>
          <a:bodyPr/>
          <a:lstStyle/>
          <a:p>
            <a:fld id="{D8191C55-DBFD-4E7C-BB81-4801EB101D72}" type="slidenum">
              <a:rPr lang="en-US" smtClean="0"/>
              <a:t>22</a:t>
            </a:fld>
            <a:endParaRPr lang="en-US"/>
          </a:p>
        </p:txBody>
      </p:sp>
    </p:spTree>
    <p:extLst>
      <p:ext uri="{BB962C8B-B14F-4D97-AF65-F5344CB8AC3E}">
        <p14:creationId xmlns:p14="http://schemas.microsoft.com/office/powerpoint/2010/main" val="39140470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A9D05-AC57-23EC-FD06-EF4FBBB2C5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AD13909-FFFC-CDF2-4D21-8D7C9EE0F3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9F63269-4610-0449-125C-29270E284D82}"/>
              </a:ext>
            </a:extLst>
          </p:cNvPr>
          <p:cNvSpPr>
            <a:spLocks noGrp="1"/>
          </p:cNvSpPr>
          <p:nvPr>
            <p:ph type="dt" sz="half" idx="10"/>
          </p:nvPr>
        </p:nvSpPr>
        <p:spPr/>
        <p:txBody>
          <a:bodyPr/>
          <a:lstStyle/>
          <a:p>
            <a:fld id="{B680B101-09D3-464E-8250-8596314F4E5F}" type="datetime1">
              <a:rPr lang="en-US" smtClean="0"/>
              <a:t>8/14/2025</a:t>
            </a:fld>
            <a:endParaRPr lang="en-US"/>
          </a:p>
        </p:txBody>
      </p:sp>
      <p:sp>
        <p:nvSpPr>
          <p:cNvPr id="5" name="Footer Placeholder 4">
            <a:extLst>
              <a:ext uri="{FF2B5EF4-FFF2-40B4-BE49-F238E27FC236}">
                <a16:creationId xmlns:a16="http://schemas.microsoft.com/office/drawing/2014/main" id="{0CB39E94-DBAD-C8AC-0070-30A484E673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5198DD-7D97-0246-462A-A13B264AC821}"/>
              </a:ext>
            </a:extLst>
          </p:cNvPr>
          <p:cNvSpPr>
            <a:spLocks noGrp="1"/>
          </p:cNvSpPr>
          <p:nvPr>
            <p:ph type="sldNum" sz="quarter" idx="12"/>
          </p:nvPr>
        </p:nvSpPr>
        <p:spPr/>
        <p:txBody>
          <a:bodyPr/>
          <a:lstStyle/>
          <a:p>
            <a:fld id="{54092646-63C8-4ED7-BF80-A13A2D7A34BD}" type="slidenum">
              <a:rPr lang="en-US" smtClean="0"/>
              <a:t>‹#›</a:t>
            </a:fld>
            <a:endParaRPr lang="en-US"/>
          </a:p>
        </p:txBody>
      </p:sp>
    </p:spTree>
    <p:extLst>
      <p:ext uri="{BB962C8B-B14F-4D97-AF65-F5344CB8AC3E}">
        <p14:creationId xmlns:p14="http://schemas.microsoft.com/office/powerpoint/2010/main" val="3878594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7C55B-888A-CED9-A5BF-7EB335BD54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0661AC-BBD9-B2AF-F8D9-8DBC516F2F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72445B-30DC-4EB8-8C4C-F3809940FC9B}"/>
              </a:ext>
            </a:extLst>
          </p:cNvPr>
          <p:cNvSpPr>
            <a:spLocks noGrp="1"/>
          </p:cNvSpPr>
          <p:nvPr>
            <p:ph type="dt" sz="half" idx="10"/>
          </p:nvPr>
        </p:nvSpPr>
        <p:spPr/>
        <p:txBody>
          <a:bodyPr/>
          <a:lstStyle/>
          <a:p>
            <a:fld id="{95269476-63D0-4FCA-A8B7-66193224E212}" type="datetime1">
              <a:rPr lang="en-US" smtClean="0"/>
              <a:t>8/14/2025</a:t>
            </a:fld>
            <a:endParaRPr lang="en-US"/>
          </a:p>
        </p:txBody>
      </p:sp>
      <p:sp>
        <p:nvSpPr>
          <p:cNvPr id="5" name="Footer Placeholder 4">
            <a:extLst>
              <a:ext uri="{FF2B5EF4-FFF2-40B4-BE49-F238E27FC236}">
                <a16:creationId xmlns:a16="http://schemas.microsoft.com/office/drawing/2014/main" id="{6256269F-EE08-E42C-5541-787D3B02A9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26EAA8-B389-1BDB-9417-795EB94AE9A5}"/>
              </a:ext>
            </a:extLst>
          </p:cNvPr>
          <p:cNvSpPr>
            <a:spLocks noGrp="1"/>
          </p:cNvSpPr>
          <p:nvPr>
            <p:ph type="sldNum" sz="quarter" idx="12"/>
          </p:nvPr>
        </p:nvSpPr>
        <p:spPr/>
        <p:txBody>
          <a:bodyPr/>
          <a:lstStyle/>
          <a:p>
            <a:fld id="{54092646-63C8-4ED7-BF80-A13A2D7A34BD}" type="slidenum">
              <a:rPr lang="en-US" smtClean="0"/>
              <a:t>‹#›</a:t>
            </a:fld>
            <a:endParaRPr lang="en-US"/>
          </a:p>
        </p:txBody>
      </p:sp>
    </p:spTree>
    <p:extLst>
      <p:ext uri="{BB962C8B-B14F-4D97-AF65-F5344CB8AC3E}">
        <p14:creationId xmlns:p14="http://schemas.microsoft.com/office/powerpoint/2010/main" val="760260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1E381-8823-F69E-0171-D7BC24D7B8F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51162E-A912-2995-3DBA-F7573985B5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CD96A0-A6CC-9B87-86B7-64EA0F27392A}"/>
              </a:ext>
            </a:extLst>
          </p:cNvPr>
          <p:cNvSpPr>
            <a:spLocks noGrp="1"/>
          </p:cNvSpPr>
          <p:nvPr>
            <p:ph type="dt" sz="half" idx="10"/>
          </p:nvPr>
        </p:nvSpPr>
        <p:spPr/>
        <p:txBody>
          <a:bodyPr/>
          <a:lstStyle/>
          <a:p>
            <a:fld id="{DFD513D9-E5D1-482B-8C0B-C8317170F3FA}" type="datetime1">
              <a:rPr lang="en-US" smtClean="0"/>
              <a:t>8/14/2025</a:t>
            </a:fld>
            <a:endParaRPr lang="en-US"/>
          </a:p>
        </p:txBody>
      </p:sp>
      <p:sp>
        <p:nvSpPr>
          <p:cNvPr id="5" name="Footer Placeholder 4">
            <a:extLst>
              <a:ext uri="{FF2B5EF4-FFF2-40B4-BE49-F238E27FC236}">
                <a16:creationId xmlns:a16="http://schemas.microsoft.com/office/drawing/2014/main" id="{DB67B240-822F-639E-90C6-497985BDFE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AFD309-F767-0912-C1F3-79850AEEB7B8}"/>
              </a:ext>
            </a:extLst>
          </p:cNvPr>
          <p:cNvSpPr>
            <a:spLocks noGrp="1"/>
          </p:cNvSpPr>
          <p:nvPr>
            <p:ph type="sldNum" sz="quarter" idx="12"/>
          </p:nvPr>
        </p:nvSpPr>
        <p:spPr/>
        <p:txBody>
          <a:bodyPr/>
          <a:lstStyle/>
          <a:p>
            <a:fld id="{54092646-63C8-4ED7-BF80-A13A2D7A34BD}" type="slidenum">
              <a:rPr lang="en-US" smtClean="0"/>
              <a:t>‹#›</a:t>
            </a:fld>
            <a:endParaRPr lang="en-US"/>
          </a:p>
        </p:txBody>
      </p:sp>
    </p:spTree>
    <p:extLst>
      <p:ext uri="{BB962C8B-B14F-4D97-AF65-F5344CB8AC3E}">
        <p14:creationId xmlns:p14="http://schemas.microsoft.com/office/powerpoint/2010/main" val="23461063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BE78D-724D-4FD2-DDFA-8BE1C1F10C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FB8EB6-6896-5576-AF29-60F2F20584E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BB73878-5A8C-175B-79BC-32A2BDE41A8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7F8CC38-C450-30CA-8C84-486DDE5E54ED}"/>
              </a:ext>
            </a:extLst>
          </p:cNvPr>
          <p:cNvSpPr>
            <a:spLocks noGrp="1"/>
          </p:cNvSpPr>
          <p:nvPr>
            <p:ph type="dt" sz="half" idx="10"/>
          </p:nvPr>
        </p:nvSpPr>
        <p:spPr/>
        <p:txBody>
          <a:bodyPr/>
          <a:lstStyle/>
          <a:p>
            <a:fld id="{A52C2F9D-6C00-4AF9-B5C3-C0725F63A2C7}" type="datetime1">
              <a:rPr lang="en-US" smtClean="0"/>
              <a:t>8/14/2025</a:t>
            </a:fld>
            <a:endParaRPr lang="en-US"/>
          </a:p>
        </p:txBody>
      </p:sp>
      <p:sp>
        <p:nvSpPr>
          <p:cNvPr id="6" name="Footer Placeholder 5">
            <a:extLst>
              <a:ext uri="{FF2B5EF4-FFF2-40B4-BE49-F238E27FC236}">
                <a16:creationId xmlns:a16="http://schemas.microsoft.com/office/drawing/2014/main" id="{D7908BFB-C3BC-F2DB-9502-5462A7D76A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034073-CD09-3ED1-80CB-EB6617E88568}"/>
              </a:ext>
            </a:extLst>
          </p:cNvPr>
          <p:cNvSpPr>
            <a:spLocks noGrp="1"/>
          </p:cNvSpPr>
          <p:nvPr>
            <p:ph type="sldNum" sz="quarter" idx="12"/>
          </p:nvPr>
        </p:nvSpPr>
        <p:spPr/>
        <p:txBody>
          <a:bodyPr/>
          <a:lstStyle/>
          <a:p>
            <a:fld id="{54092646-63C8-4ED7-BF80-A13A2D7A34BD}" type="slidenum">
              <a:rPr lang="en-US" smtClean="0"/>
              <a:t>‹#›</a:t>
            </a:fld>
            <a:endParaRPr lang="en-US"/>
          </a:p>
        </p:txBody>
      </p:sp>
    </p:spTree>
    <p:extLst>
      <p:ext uri="{BB962C8B-B14F-4D97-AF65-F5344CB8AC3E}">
        <p14:creationId xmlns:p14="http://schemas.microsoft.com/office/powerpoint/2010/main" val="3996692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2C95A-961E-673E-35B8-2EE8DF6E1BC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E22DB68-8B21-AD71-57FE-36B5DCE626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A9E12A-4256-23AF-5C1E-6B74E046BA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D55AB86-A723-A84B-49EB-7A1C51477E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DA1517-8A45-7CAF-ABE9-2A32BA2A9C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359D8B-AB82-4D2B-2160-387D010F771A}"/>
              </a:ext>
            </a:extLst>
          </p:cNvPr>
          <p:cNvSpPr>
            <a:spLocks noGrp="1"/>
          </p:cNvSpPr>
          <p:nvPr>
            <p:ph type="dt" sz="half" idx="10"/>
          </p:nvPr>
        </p:nvSpPr>
        <p:spPr/>
        <p:txBody>
          <a:bodyPr/>
          <a:lstStyle/>
          <a:p>
            <a:fld id="{EE0F30A4-B8FA-4C46-8AC4-82724864077A}" type="datetime1">
              <a:rPr lang="en-US" smtClean="0"/>
              <a:t>8/14/2025</a:t>
            </a:fld>
            <a:endParaRPr lang="en-US"/>
          </a:p>
        </p:txBody>
      </p:sp>
      <p:sp>
        <p:nvSpPr>
          <p:cNvPr id="8" name="Footer Placeholder 7">
            <a:extLst>
              <a:ext uri="{FF2B5EF4-FFF2-40B4-BE49-F238E27FC236}">
                <a16:creationId xmlns:a16="http://schemas.microsoft.com/office/drawing/2014/main" id="{B9781B4C-A807-5F98-20FB-D071F5C5A67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33F5D-E64E-9962-2B26-71D6CCCDA40A}"/>
              </a:ext>
            </a:extLst>
          </p:cNvPr>
          <p:cNvSpPr>
            <a:spLocks noGrp="1"/>
          </p:cNvSpPr>
          <p:nvPr>
            <p:ph type="sldNum" sz="quarter" idx="12"/>
          </p:nvPr>
        </p:nvSpPr>
        <p:spPr/>
        <p:txBody>
          <a:bodyPr/>
          <a:lstStyle/>
          <a:p>
            <a:fld id="{54092646-63C8-4ED7-BF80-A13A2D7A34BD}" type="slidenum">
              <a:rPr lang="en-US" smtClean="0"/>
              <a:t>‹#›</a:t>
            </a:fld>
            <a:endParaRPr lang="en-US"/>
          </a:p>
        </p:txBody>
      </p:sp>
    </p:spTree>
    <p:extLst>
      <p:ext uri="{BB962C8B-B14F-4D97-AF65-F5344CB8AC3E}">
        <p14:creationId xmlns:p14="http://schemas.microsoft.com/office/powerpoint/2010/main" val="2528143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DAAC0-CCD8-3CD1-59A0-B9C9193CE14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B4CE597-B453-2EE5-06A7-8A02D9AD004D}"/>
              </a:ext>
            </a:extLst>
          </p:cNvPr>
          <p:cNvSpPr>
            <a:spLocks noGrp="1"/>
          </p:cNvSpPr>
          <p:nvPr>
            <p:ph type="dt" sz="half" idx="10"/>
          </p:nvPr>
        </p:nvSpPr>
        <p:spPr/>
        <p:txBody>
          <a:bodyPr/>
          <a:lstStyle/>
          <a:p>
            <a:fld id="{5185A864-217A-4CF3-BB46-B938627C477F}" type="datetime1">
              <a:rPr lang="en-US" smtClean="0"/>
              <a:t>8/14/2025</a:t>
            </a:fld>
            <a:endParaRPr lang="en-US"/>
          </a:p>
        </p:txBody>
      </p:sp>
      <p:sp>
        <p:nvSpPr>
          <p:cNvPr id="4" name="Footer Placeholder 3">
            <a:extLst>
              <a:ext uri="{FF2B5EF4-FFF2-40B4-BE49-F238E27FC236}">
                <a16:creationId xmlns:a16="http://schemas.microsoft.com/office/drawing/2014/main" id="{53D790B7-2EC7-A677-B939-64D8BE113B1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FF02525-8124-E2A8-61EE-4D56CAC78A50}"/>
              </a:ext>
            </a:extLst>
          </p:cNvPr>
          <p:cNvSpPr>
            <a:spLocks noGrp="1"/>
          </p:cNvSpPr>
          <p:nvPr>
            <p:ph type="sldNum" sz="quarter" idx="12"/>
          </p:nvPr>
        </p:nvSpPr>
        <p:spPr/>
        <p:txBody>
          <a:bodyPr/>
          <a:lstStyle/>
          <a:p>
            <a:fld id="{54092646-63C8-4ED7-BF80-A13A2D7A34BD}" type="slidenum">
              <a:rPr lang="en-US" smtClean="0"/>
              <a:t>‹#›</a:t>
            </a:fld>
            <a:endParaRPr lang="en-US"/>
          </a:p>
        </p:txBody>
      </p:sp>
    </p:spTree>
    <p:extLst>
      <p:ext uri="{BB962C8B-B14F-4D97-AF65-F5344CB8AC3E}">
        <p14:creationId xmlns:p14="http://schemas.microsoft.com/office/powerpoint/2010/main" val="2712091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8D4077-BBB7-81F2-E0DF-1F3BDD07F69C}"/>
              </a:ext>
            </a:extLst>
          </p:cNvPr>
          <p:cNvSpPr>
            <a:spLocks noGrp="1"/>
          </p:cNvSpPr>
          <p:nvPr>
            <p:ph type="dt" sz="half" idx="10"/>
          </p:nvPr>
        </p:nvSpPr>
        <p:spPr/>
        <p:txBody>
          <a:bodyPr/>
          <a:lstStyle/>
          <a:p>
            <a:fld id="{F61EF360-8A30-4CFA-B1EF-4D117C9FBE61}" type="datetime1">
              <a:rPr lang="en-US" smtClean="0"/>
              <a:t>8/14/2025</a:t>
            </a:fld>
            <a:endParaRPr lang="en-US"/>
          </a:p>
        </p:txBody>
      </p:sp>
      <p:sp>
        <p:nvSpPr>
          <p:cNvPr id="3" name="Footer Placeholder 2">
            <a:extLst>
              <a:ext uri="{FF2B5EF4-FFF2-40B4-BE49-F238E27FC236}">
                <a16:creationId xmlns:a16="http://schemas.microsoft.com/office/drawing/2014/main" id="{DA2A181B-E639-C0BD-3180-95CF4017F7B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0FC2679-6490-3023-7921-F6B505DA7669}"/>
              </a:ext>
            </a:extLst>
          </p:cNvPr>
          <p:cNvSpPr>
            <a:spLocks noGrp="1"/>
          </p:cNvSpPr>
          <p:nvPr>
            <p:ph type="sldNum" sz="quarter" idx="12"/>
          </p:nvPr>
        </p:nvSpPr>
        <p:spPr/>
        <p:txBody>
          <a:bodyPr/>
          <a:lstStyle/>
          <a:p>
            <a:fld id="{54092646-63C8-4ED7-BF80-A13A2D7A34BD}" type="slidenum">
              <a:rPr lang="en-US" smtClean="0"/>
              <a:t>‹#›</a:t>
            </a:fld>
            <a:endParaRPr lang="en-US"/>
          </a:p>
        </p:txBody>
      </p:sp>
    </p:spTree>
    <p:extLst>
      <p:ext uri="{BB962C8B-B14F-4D97-AF65-F5344CB8AC3E}">
        <p14:creationId xmlns:p14="http://schemas.microsoft.com/office/powerpoint/2010/main" val="41147964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F8E6B-840B-B126-0E39-D1D3448EE0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C96A1A2-D6FD-E8BF-A846-B8C155FDCA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38EF4FA-CA9C-728E-2325-8CEE41600F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ABBA90-FCFF-17D6-CC15-C13959AF6541}"/>
              </a:ext>
            </a:extLst>
          </p:cNvPr>
          <p:cNvSpPr>
            <a:spLocks noGrp="1"/>
          </p:cNvSpPr>
          <p:nvPr>
            <p:ph type="dt" sz="half" idx="10"/>
          </p:nvPr>
        </p:nvSpPr>
        <p:spPr/>
        <p:txBody>
          <a:bodyPr/>
          <a:lstStyle/>
          <a:p>
            <a:fld id="{B3D3D9BD-7E36-4829-981A-E8DC04D291D9}" type="datetime1">
              <a:rPr lang="en-US" smtClean="0"/>
              <a:t>8/14/2025</a:t>
            </a:fld>
            <a:endParaRPr lang="en-US"/>
          </a:p>
        </p:txBody>
      </p:sp>
      <p:sp>
        <p:nvSpPr>
          <p:cNvPr id="6" name="Footer Placeholder 5">
            <a:extLst>
              <a:ext uri="{FF2B5EF4-FFF2-40B4-BE49-F238E27FC236}">
                <a16:creationId xmlns:a16="http://schemas.microsoft.com/office/drawing/2014/main" id="{C5D5A837-86B5-2C6C-8D3D-939703A158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1A8B80-6902-77E1-E43E-D3C2E848B238}"/>
              </a:ext>
            </a:extLst>
          </p:cNvPr>
          <p:cNvSpPr>
            <a:spLocks noGrp="1"/>
          </p:cNvSpPr>
          <p:nvPr>
            <p:ph type="sldNum" sz="quarter" idx="12"/>
          </p:nvPr>
        </p:nvSpPr>
        <p:spPr/>
        <p:txBody>
          <a:bodyPr/>
          <a:lstStyle/>
          <a:p>
            <a:fld id="{54092646-63C8-4ED7-BF80-A13A2D7A34BD}" type="slidenum">
              <a:rPr lang="en-US" smtClean="0"/>
              <a:t>‹#›</a:t>
            </a:fld>
            <a:endParaRPr lang="en-US"/>
          </a:p>
        </p:txBody>
      </p:sp>
    </p:spTree>
    <p:extLst>
      <p:ext uri="{BB962C8B-B14F-4D97-AF65-F5344CB8AC3E}">
        <p14:creationId xmlns:p14="http://schemas.microsoft.com/office/powerpoint/2010/main" val="3130808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FF0FD-BFDB-B694-56E1-2696B870B3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AA699B0-A11D-4C06-16FE-0D13B8A382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4CF55B7-B99C-0AE5-D9C8-A25414A178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EA0A1D-8684-C8F1-4CA5-52C22D09B1DF}"/>
              </a:ext>
            </a:extLst>
          </p:cNvPr>
          <p:cNvSpPr>
            <a:spLocks noGrp="1"/>
          </p:cNvSpPr>
          <p:nvPr>
            <p:ph type="dt" sz="half" idx="10"/>
          </p:nvPr>
        </p:nvSpPr>
        <p:spPr/>
        <p:txBody>
          <a:bodyPr/>
          <a:lstStyle/>
          <a:p>
            <a:fld id="{FE1CEB3F-A9B2-4E62-B224-0038271F6B23}" type="datetime1">
              <a:rPr lang="en-US" smtClean="0"/>
              <a:t>8/14/2025</a:t>
            </a:fld>
            <a:endParaRPr lang="en-US"/>
          </a:p>
        </p:txBody>
      </p:sp>
      <p:sp>
        <p:nvSpPr>
          <p:cNvPr id="6" name="Footer Placeholder 5">
            <a:extLst>
              <a:ext uri="{FF2B5EF4-FFF2-40B4-BE49-F238E27FC236}">
                <a16:creationId xmlns:a16="http://schemas.microsoft.com/office/drawing/2014/main" id="{3F6A75CF-D4A7-E901-BA50-366CE216BE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0E07E9-EC18-5CA5-D4C4-34E8945D5A4D}"/>
              </a:ext>
            </a:extLst>
          </p:cNvPr>
          <p:cNvSpPr>
            <a:spLocks noGrp="1"/>
          </p:cNvSpPr>
          <p:nvPr>
            <p:ph type="sldNum" sz="quarter" idx="12"/>
          </p:nvPr>
        </p:nvSpPr>
        <p:spPr/>
        <p:txBody>
          <a:bodyPr/>
          <a:lstStyle/>
          <a:p>
            <a:fld id="{54092646-63C8-4ED7-BF80-A13A2D7A34BD}" type="slidenum">
              <a:rPr lang="en-US" smtClean="0"/>
              <a:t>‹#›</a:t>
            </a:fld>
            <a:endParaRPr lang="en-US"/>
          </a:p>
        </p:txBody>
      </p:sp>
    </p:spTree>
    <p:extLst>
      <p:ext uri="{BB962C8B-B14F-4D97-AF65-F5344CB8AC3E}">
        <p14:creationId xmlns:p14="http://schemas.microsoft.com/office/powerpoint/2010/main" val="35841145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5B213-0E24-4A71-C882-A3650FF91EB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1A00C1-95DC-2B2A-A1FF-E51D757D84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5EBE4C-78DA-3DDC-FB15-25CE100F933D}"/>
              </a:ext>
            </a:extLst>
          </p:cNvPr>
          <p:cNvSpPr>
            <a:spLocks noGrp="1"/>
          </p:cNvSpPr>
          <p:nvPr>
            <p:ph type="dt" sz="half" idx="10"/>
          </p:nvPr>
        </p:nvSpPr>
        <p:spPr/>
        <p:txBody>
          <a:bodyPr/>
          <a:lstStyle/>
          <a:p>
            <a:fld id="{E2C120E8-851C-4BA3-AA20-83592B18014D}" type="datetime1">
              <a:rPr lang="en-US" smtClean="0"/>
              <a:t>8/14/2025</a:t>
            </a:fld>
            <a:endParaRPr lang="en-US"/>
          </a:p>
        </p:txBody>
      </p:sp>
      <p:sp>
        <p:nvSpPr>
          <p:cNvPr id="5" name="Footer Placeholder 4">
            <a:extLst>
              <a:ext uri="{FF2B5EF4-FFF2-40B4-BE49-F238E27FC236}">
                <a16:creationId xmlns:a16="http://schemas.microsoft.com/office/drawing/2014/main" id="{8DA322A2-5BA0-E977-91ED-67B6F3FB38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42A67C-36F5-9C00-7536-25A8D9EE5E19}"/>
              </a:ext>
            </a:extLst>
          </p:cNvPr>
          <p:cNvSpPr>
            <a:spLocks noGrp="1"/>
          </p:cNvSpPr>
          <p:nvPr>
            <p:ph type="sldNum" sz="quarter" idx="12"/>
          </p:nvPr>
        </p:nvSpPr>
        <p:spPr/>
        <p:txBody>
          <a:bodyPr/>
          <a:lstStyle/>
          <a:p>
            <a:fld id="{54092646-63C8-4ED7-BF80-A13A2D7A34BD}" type="slidenum">
              <a:rPr lang="en-US" smtClean="0"/>
              <a:t>‹#›</a:t>
            </a:fld>
            <a:endParaRPr lang="en-US"/>
          </a:p>
        </p:txBody>
      </p:sp>
    </p:spTree>
    <p:extLst>
      <p:ext uri="{BB962C8B-B14F-4D97-AF65-F5344CB8AC3E}">
        <p14:creationId xmlns:p14="http://schemas.microsoft.com/office/powerpoint/2010/main" val="1865229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49DDB9-0998-5C9E-9479-39CE1E7CF2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EF137F-59AA-E0A3-DC5D-0AC1D1C85D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25D721-8307-9CC1-C786-357BBB4E04A6}"/>
              </a:ext>
            </a:extLst>
          </p:cNvPr>
          <p:cNvSpPr>
            <a:spLocks noGrp="1"/>
          </p:cNvSpPr>
          <p:nvPr>
            <p:ph type="dt" sz="half" idx="10"/>
          </p:nvPr>
        </p:nvSpPr>
        <p:spPr/>
        <p:txBody>
          <a:bodyPr/>
          <a:lstStyle/>
          <a:p>
            <a:fld id="{6F9CB104-C4F8-43B8-A9CE-767DC9D61604}" type="datetime1">
              <a:rPr lang="en-US" smtClean="0"/>
              <a:t>8/14/2025</a:t>
            </a:fld>
            <a:endParaRPr lang="en-US"/>
          </a:p>
        </p:txBody>
      </p:sp>
      <p:sp>
        <p:nvSpPr>
          <p:cNvPr id="5" name="Footer Placeholder 4">
            <a:extLst>
              <a:ext uri="{FF2B5EF4-FFF2-40B4-BE49-F238E27FC236}">
                <a16:creationId xmlns:a16="http://schemas.microsoft.com/office/drawing/2014/main" id="{04BFB5EB-48FD-4A8D-2A4E-173E1C3F8F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E0707A-39F5-6794-9FA3-E9C5BB6BF935}"/>
              </a:ext>
            </a:extLst>
          </p:cNvPr>
          <p:cNvSpPr>
            <a:spLocks noGrp="1"/>
          </p:cNvSpPr>
          <p:nvPr>
            <p:ph type="sldNum" sz="quarter" idx="12"/>
          </p:nvPr>
        </p:nvSpPr>
        <p:spPr/>
        <p:txBody>
          <a:bodyPr/>
          <a:lstStyle/>
          <a:p>
            <a:fld id="{54092646-63C8-4ED7-BF80-A13A2D7A34BD}" type="slidenum">
              <a:rPr lang="en-US" smtClean="0"/>
              <a:t>‹#›</a:t>
            </a:fld>
            <a:endParaRPr lang="en-US"/>
          </a:p>
        </p:txBody>
      </p:sp>
    </p:spTree>
    <p:extLst>
      <p:ext uri="{BB962C8B-B14F-4D97-AF65-F5344CB8AC3E}">
        <p14:creationId xmlns:p14="http://schemas.microsoft.com/office/powerpoint/2010/main" val="1425310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375182-61BD-07E9-881C-879D055031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FDF2CC-79B6-8705-1173-587942E831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F3C633-7368-C194-FBFB-704740CA37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4DB940-E816-4EF4-8015-368E18BB92F0}" type="datetime1">
              <a:rPr lang="en-US" smtClean="0"/>
              <a:t>8/14/2025</a:t>
            </a:fld>
            <a:endParaRPr lang="en-US"/>
          </a:p>
        </p:txBody>
      </p:sp>
      <p:sp>
        <p:nvSpPr>
          <p:cNvPr id="5" name="Footer Placeholder 4">
            <a:extLst>
              <a:ext uri="{FF2B5EF4-FFF2-40B4-BE49-F238E27FC236}">
                <a16:creationId xmlns:a16="http://schemas.microsoft.com/office/drawing/2014/main" id="{D08DDFBF-0C6F-0C78-E186-44670E55D2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F1E3D47-F2C0-F09A-05F0-2A74A9D18A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092646-63C8-4ED7-BF80-A13A2D7A34BD}" type="slidenum">
              <a:rPr lang="en-US" smtClean="0"/>
              <a:t>‹#›</a:t>
            </a:fld>
            <a:endParaRPr lang="en-US"/>
          </a:p>
        </p:txBody>
      </p:sp>
    </p:spTree>
    <p:extLst>
      <p:ext uri="{BB962C8B-B14F-4D97-AF65-F5344CB8AC3E}">
        <p14:creationId xmlns:p14="http://schemas.microsoft.com/office/powerpoint/2010/main" val="16672056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6.jpe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jpe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3" Type="http://schemas.openxmlformats.org/officeDocument/2006/relationships/hyperlink" Target="https://learn.microsoft.com/en-us/windows-server/identity/ad-ds/ad-ds-overview" TargetMode="External"/><Relationship Id="rId2" Type="http://schemas.openxmlformats.org/officeDocument/2006/relationships/hyperlink" Target="Redco%20presentation.pptx"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4EC4784-AFC1-8A5A-D59E-C6232024FEFB}"/>
              </a:ext>
            </a:extLst>
          </p:cNvPr>
          <p:cNvSpPr txBox="1"/>
          <p:nvPr/>
        </p:nvSpPr>
        <p:spPr>
          <a:xfrm>
            <a:off x="2533846" y="2367171"/>
            <a:ext cx="7124307" cy="2123658"/>
          </a:xfrm>
          <a:prstGeom prst="rect">
            <a:avLst/>
          </a:prstGeom>
          <a:noFill/>
        </p:spPr>
        <p:txBody>
          <a:bodyPr wrap="square">
            <a:spAutoFit/>
          </a:bodyPr>
          <a:lstStyle/>
          <a:p>
            <a:pPr algn="ctr"/>
            <a:r>
              <a:rPr lang="en-US" sz="4400" dirty="0">
                <a:solidFill>
                  <a:schemeClr val="bg1"/>
                </a:solidFill>
                <a:latin typeface="Aharoni" panose="02010803020104030203" pitchFamily="2" charset="-79"/>
                <a:cs typeface="Aharoni" panose="02010803020104030203" pitchFamily="2" charset="-79"/>
              </a:rPr>
              <a:t>Redco Developments: Network Design &amp; Implementation Project</a:t>
            </a:r>
          </a:p>
        </p:txBody>
      </p:sp>
      <p:sp>
        <p:nvSpPr>
          <p:cNvPr id="6" name="TextBox 5">
            <a:extLst>
              <a:ext uri="{FF2B5EF4-FFF2-40B4-BE49-F238E27FC236}">
                <a16:creationId xmlns:a16="http://schemas.microsoft.com/office/drawing/2014/main" id="{E5F07CB2-5775-3FA7-BCD7-F11B614AE885}"/>
              </a:ext>
            </a:extLst>
          </p:cNvPr>
          <p:cNvSpPr txBox="1"/>
          <p:nvPr/>
        </p:nvSpPr>
        <p:spPr>
          <a:xfrm>
            <a:off x="8427563" y="5184740"/>
            <a:ext cx="3865271" cy="1354217"/>
          </a:xfrm>
          <a:prstGeom prst="rect">
            <a:avLst/>
          </a:prstGeom>
          <a:noFill/>
        </p:spPr>
        <p:txBody>
          <a:bodyPr wrap="square" rtlCol="0">
            <a:spAutoFit/>
          </a:bodyPr>
          <a:lstStyle/>
          <a:p>
            <a:r>
              <a:rPr lang="en-US" sz="1600" dirty="0">
                <a:solidFill>
                  <a:schemeClr val="bg1"/>
                </a:solidFill>
                <a:latin typeface="Aharoni" panose="02010803020104030203" pitchFamily="2" charset="-79"/>
                <a:cs typeface="Aharoni" panose="02010803020104030203" pitchFamily="2" charset="-79"/>
              </a:rPr>
              <a:t>Name: Fathima Sameeha Rimzan</a:t>
            </a:r>
          </a:p>
          <a:p>
            <a:r>
              <a:rPr lang="en-US" sz="1600" dirty="0">
                <a:solidFill>
                  <a:schemeClr val="bg1"/>
                </a:solidFill>
                <a:latin typeface="Aharoni" panose="02010803020104030203" pitchFamily="2" charset="-79"/>
                <a:cs typeface="Aharoni" panose="02010803020104030203" pitchFamily="2" charset="-79"/>
              </a:rPr>
              <a:t>ID: </a:t>
            </a:r>
            <a:r>
              <a:rPr lang="en-US" sz="1600" dirty="0">
                <a:solidFill>
                  <a:schemeClr val="bg1"/>
                </a:solidFill>
                <a:latin typeface="Bernard MT Condensed" panose="02050806060905020404" pitchFamily="18" charset="0"/>
                <a:cs typeface="Aharoni" panose="02010803020104030203" pitchFamily="2" charset="-79"/>
              </a:rPr>
              <a:t>E244970</a:t>
            </a:r>
          </a:p>
          <a:p>
            <a:r>
              <a:rPr lang="en-US" sz="1600" dirty="0">
                <a:solidFill>
                  <a:schemeClr val="bg1"/>
                </a:solidFill>
                <a:latin typeface="Aharoni" panose="02010803020104030203" pitchFamily="2" charset="-79"/>
                <a:cs typeface="Aharoni" panose="02010803020104030203" pitchFamily="2" charset="-79"/>
              </a:rPr>
              <a:t>Tutor: Mr. Lahiru</a:t>
            </a:r>
          </a:p>
          <a:p>
            <a:r>
              <a:rPr lang="en-US" sz="1600" dirty="0">
                <a:solidFill>
                  <a:schemeClr val="bg1"/>
                </a:solidFill>
                <a:latin typeface="Aharoni" panose="02010803020104030203" pitchFamily="2" charset="-79"/>
                <a:cs typeface="Aharoni" panose="02010803020104030203" pitchFamily="2" charset="-79"/>
              </a:rPr>
              <a:t>Unit name: Networking</a:t>
            </a:r>
          </a:p>
          <a:p>
            <a:endParaRPr lang="en-US" sz="1600" dirty="0">
              <a:solidFill>
                <a:schemeClr val="bg1"/>
              </a:solidFill>
            </a:endParaRPr>
          </a:p>
        </p:txBody>
      </p:sp>
      <p:sp>
        <p:nvSpPr>
          <p:cNvPr id="4" name="Slide Number Placeholder 3">
            <a:extLst>
              <a:ext uri="{FF2B5EF4-FFF2-40B4-BE49-F238E27FC236}">
                <a16:creationId xmlns:a16="http://schemas.microsoft.com/office/drawing/2014/main" id="{7E0D38B7-AA61-C8FC-B457-5CA7DD3238FF}"/>
              </a:ext>
            </a:extLst>
          </p:cNvPr>
          <p:cNvSpPr>
            <a:spLocks noGrp="1"/>
          </p:cNvSpPr>
          <p:nvPr>
            <p:ph type="sldNum" sz="quarter" idx="12"/>
          </p:nvPr>
        </p:nvSpPr>
        <p:spPr/>
        <p:txBody>
          <a:bodyPr/>
          <a:lstStyle/>
          <a:p>
            <a:fld id="{54092646-63C8-4ED7-BF80-A13A2D7A34BD}" type="slidenum">
              <a:rPr lang="en-US" smtClean="0">
                <a:solidFill>
                  <a:schemeClr val="tx1"/>
                </a:solidFill>
              </a:rPr>
              <a:t>1</a:t>
            </a:fld>
            <a:endParaRPr lang="en-US">
              <a:solidFill>
                <a:schemeClr val="tx1"/>
              </a:solidFill>
            </a:endParaRPr>
          </a:p>
        </p:txBody>
      </p:sp>
    </p:spTree>
    <p:extLst>
      <p:ext uri="{BB962C8B-B14F-4D97-AF65-F5344CB8AC3E}">
        <p14:creationId xmlns:p14="http://schemas.microsoft.com/office/powerpoint/2010/main" val="3997956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44693-6474-1365-2D35-B2C8A0E486ED}"/>
              </a:ext>
            </a:extLst>
          </p:cNvPr>
          <p:cNvSpPr>
            <a:spLocks noGrp="1"/>
          </p:cNvSpPr>
          <p:nvPr>
            <p:ph type="title"/>
          </p:nvPr>
        </p:nvSpPr>
        <p:spPr>
          <a:xfrm>
            <a:off x="838200" y="1217407"/>
            <a:ext cx="10515600" cy="4830184"/>
          </a:xfrm>
        </p:spPr>
        <p:txBody>
          <a:bodyPr>
            <a:noAutofit/>
          </a:bodyPr>
          <a:lstStyle/>
          <a:p>
            <a:r>
              <a:rPr lang="en-US" sz="4000" dirty="0">
                <a:solidFill>
                  <a:schemeClr val="bg1"/>
                </a:solidFill>
                <a:latin typeface="Aharoni" panose="02010803020104030203" pitchFamily="2" charset="-79"/>
                <a:cs typeface="Aharoni" panose="02010803020104030203" pitchFamily="2" charset="-79"/>
              </a:rPr>
              <a:t>Content</a:t>
            </a:r>
            <a:br>
              <a:rPr lang="en-US" sz="2400" dirty="0">
                <a:solidFill>
                  <a:schemeClr val="bg1"/>
                </a:solidFill>
                <a:latin typeface="Aharoni" panose="02010803020104030203" pitchFamily="2" charset="-79"/>
                <a:cs typeface="Aharoni" panose="02010803020104030203" pitchFamily="2" charset="-79"/>
              </a:rPr>
            </a:br>
            <a:br>
              <a:rPr lang="en-US" sz="2400" dirty="0">
                <a:solidFill>
                  <a:schemeClr val="bg1"/>
                </a:solidFill>
                <a:latin typeface="Aharoni" panose="02010803020104030203" pitchFamily="2" charset="-79"/>
                <a:cs typeface="Aharoni" panose="02010803020104030203" pitchFamily="2" charset="-79"/>
              </a:rPr>
            </a:br>
            <a:r>
              <a:rPr lang="en-US" sz="2400" dirty="0">
                <a:solidFill>
                  <a:schemeClr val="bg1"/>
                </a:solidFill>
                <a:latin typeface="Aharoni" panose="02010803020104030203" pitchFamily="2" charset="-79"/>
                <a:cs typeface="Aharoni" panose="02010803020104030203" pitchFamily="2" charset="-79"/>
              </a:rPr>
              <a:t>1 Overview of Redco</a:t>
            </a:r>
            <a:br>
              <a:rPr lang="en-US" sz="2400" dirty="0">
                <a:solidFill>
                  <a:schemeClr val="bg1"/>
                </a:solidFill>
                <a:latin typeface="Aharoni" panose="02010803020104030203" pitchFamily="2" charset="-79"/>
                <a:cs typeface="Aharoni" panose="02010803020104030203" pitchFamily="2" charset="-79"/>
              </a:rPr>
            </a:br>
            <a:r>
              <a:rPr lang="en-US" sz="2400" dirty="0">
                <a:solidFill>
                  <a:schemeClr val="bg1"/>
                </a:solidFill>
                <a:latin typeface="Aharoni" panose="02010803020104030203" pitchFamily="2" charset="-79"/>
                <a:cs typeface="Aharoni" panose="02010803020104030203" pitchFamily="2" charset="-79"/>
              </a:rPr>
              <a:t>2 Network Type</a:t>
            </a:r>
            <a:br>
              <a:rPr lang="en-US" sz="2400" dirty="0">
                <a:solidFill>
                  <a:schemeClr val="bg1"/>
                </a:solidFill>
                <a:latin typeface="Aharoni" panose="02010803020104030203" pitchFamily="2" charset="-79"/>
                <a:cs typeface="Aharoni" panose="02010803020104030203" pitchFamily="2" charset="-79"/>
              </a:rPr>
            </a:br>
            <a:r>
              <a:rPr lang="en-US" sz="2400" dirty="0">
                <a:solidFill>
                  <a:schemeClr val="bg1"/>
                </a:solidFill>
                <a:latin typeface="Aharoni" panose="02010803020104030203" pitchFamily="2" charset="-79"/>
                <a:cs typeface="Aharoni" panose="02010803020104030203" pitchFamily="2" charset="-79"/>
              </a:rPr>
              <a:t>3 Devices and Tools Used in Redco Project</a:t>
            </a:r>
            <a:br>
              <a:rPr lang="en-US" sz="2400" dirty="0">
                <a:solidFill>
                  <a:schemeClr val="bg1"/>
                </a:solidFill>
                <a:latin typeface="Aharoni" panose="02010803020104030203" pitchFamily="2" charset="-79"/>
                <a:cs typeface="Aharoni" panose="02010803020104030203" pitchFamily="2" charset="-79"/>
              </a:rPr>
            </a:br>
            <a:r>
              <a:rPr lang="en-US" sz="2400" dirty="0">
                <a:solidFill>
                  <a:schemeClr val="bg1"/>
                </a:solidFill>
                <a:latin typeface="Aharoni" panose="02010803020104030203" pitchFamily="2" charset="-79"/>
                <a:cs typeface="Aharoni" panose="02010803020104030203" pitchFamily="2" charset="-79"/>
              </a:rPr>
              <a:t>4 Security &amp; Access Technologies in Redco’s Network</a:t>
            </a:r>
            <a:br>
              <a:rPr lang="en-US" sz="2400" dirty="0">
                <a:solidFill>
                  <a:schemeClr val="bg1"/>
                </a:solidFill>
                <a:latin typeface="Aharoni" panose="02010803020104030203" pitchFamily="2" charset="-79"/>
                <a:cs typeface="Aharoni" panose="02010803020104030203" pitchFamily="2" charset="-79"/>
              </a:rPr>
            </a:br>
            <a:r>
              <a:rPr lang="en-US" sz="2400" dirty="0">
                <a:solidFill>
                  <a:schemeClr val="bg1"/>
                </a:solidFill>
                <a:latin typeface="Aharoni" panose="02010803020104030203" pitchFamily="2" charset="-79"/>
                <a:cs typeface="Aharoni" panose="02010803020104030203" pitchFamily="2" charset="-79"/>
              </a:rPr>
              <a:t>5 Network Blueprint of Redco developments</a:t>
            </a:r>
            <a:br>
              <a:rPr lang="en-US" sz="2400" dirty="0">
                <a:solidFill>
                  <a:schemeClr val="bg1"/>
                </a:solidFill>
                <a:latin typeface="Aharoni" panose="02010803020104030203" pitchFamily="2" charset="-79"/>
                <a:cs typeface="Aharoni" panose="02010803020104030203" pitchFamily="2" charset="-79"/>
              </a:rPr>
            </a:br>
            <a:r>
              <a:rPr lang="en-US" sz="2400" dirty="0">
                <a:solidFill>
                  <a:schemeClr val="bg1"/>
                </a:solidFill>
                <a:latin typeface="Aharoni" panose="02010803020104030203" pitchFamily="2" charset="-79"/>
                <a:cs typeface="Aharoni" panose="02010803020104030203" pitchFamily="2" charset="-79"/>
              </a:rPr>
              <a:t>6 Cisco Packet Tracer Implementation</a:t>
            </a:r>
            <a:br>
              <a:rPr lang="en-US" sz="2400" dirty="0">
                <a:solidFill>
                  <a:schemeClr val="bg1"/>
                </a:solidFill>
                <a:latin typeface="Aharoni" panose="02010803020104030203" pitchFamily="2" charset="-79"/>
                <a:cs typeface="Aharoni" panose="02010803020104030203" pitchFamily="2" charset="-79"/>
              </a:rPr>
            </a:br>
            <a:r>
              <a:rPr lang="en-US" sz="2400" dirty="0">
                <a:solidFill>
                  <a:schemeClr val="bg1"/>
                </a:solidFill>
                <a:latin typeface="Aharoni" panose="02010803020104030203" pitchFamily="2" charset="-79"/>
                <a:cs typeface="Aharoni" panose="02010803020104030203" pitchFamily="2" charset="-79"/>
              </a:rPr>
              <a:t>7 IP Ping Testing</a:t>
            </a:r>
            <a:br>
              <a:rPr lang="en-US" sz="2400" dirty="0">
                <a:solidFill>
                  <a:schemeClr val="bg1"/>
                </a:solidFill>
                <a:latin typeface="Aharoni" panose="02010803020104030203" pitchFamily="2" charset="-79"/>
                <a:cs typeface="Aharoni" panose="02010803020104030203" pitchFamily="2" charset="-79"/>
              </a:rPr>
            </a:br>
            <a:r>
              <a:rPr lang="en-US" sz="2400" dirty="0">
                <a:solidFill>
                  <a:schemeClr val="bg1"/>
                </a:solidFill>
                <a:latin typeface="Aharoni" panose="02010803020104030203" pitchFamily="2" charset="-79"/>
                <a:cs typeface="Aharoni" panose="02010803020104030203" pitchFamily="2" charset="-79"/>
              </a:rPr>
              <a:t>8 </a:t>
            </a:r>
            <a:r>
              <a:rPr lang="en-US" altLang="en-US" sz="2400" dirty="0">
                <a:solidFill>
                  <a:schemeClr val="bg1"/>
                </a:solidFill>
                <a:latin typeface="Aharoni" panose="02010803020104030203" pitchFamily="2" charset="-79"/>
                <a:cs typeface="Aharoni" panose="02010803020104030203" pitchFamily="2" charset="-79"/>
              </a:rPr>
              <a:t>Packet Tracer Test Cases</a:t>
            </a:r>
            <a:br>
              <a:rPr lang="en-US" altLang="en-US" sz="2400" dirty="0">
                <a:solidFill>
                  <a:schemeClr val="bg1"/>
                </a:solidFill>
                <a:latin typeface="Aharoni" panose="02010803020104030203" pitchFamily="2" charset="-79"/>
                <a:cs typeface="Aharoni" panose="02010803020104030203" pitchFamily="2" charset="-79"/>
              </a:rPr>
            </a:br>
            <a:r>
              <a:rPr lang="en-US" altLang="en-US" sz="2400" dirty="0">
                <a:solidFill>
                  <a:schemeClr val="bg1"/>
                </a:solidFill>
                <a:latin typeface="Aharoni" panose="02010803020104030203" pitchFamily="2" charset="-79"/>
                <a:cs typeface="Aharoni" panose="02010803020104030203" pitchFamily="2" charset="-79"/>
              </a:rPr>
              <a:t>9 virtual box</a:t>
            </a:r>
            <a:br>
              <a:rPr lang="en-US" altLang="en-US" sz="2400" dirty="0">
                <a:solidFill>
                  <a:schemeClr val="bg1"/>
                </a:solidFill>
                <a:latin typeface="Aharoni" panose="02010803020104030203" pitchFamily="2" charset="-79"/>
                <a:cs typeface="Aharoni" panose="02010803020104030203" pitchFamily="2" charset="-79"/>
              </a:rPr>
            </a:br>
            <a:r>
              <a:rPr lang="en-US" altLang="en-US" sz="2400" dirty="0">
                <a:solidFill>
                  <a:schemeClr val="bg1"/>
                </a:solidFill>
                <a:latin typeface="Aharoni" panose="02010803020104030203" pitchFamily="2" charset="-79"/>
                <a:cs typeface="Aharoni" panose="02010803020104030203" pitchFamily="2" charset="-79"/>
              </a:rPr>
              <a:t>10 </a:t>
            </a:r>
            <a:r>
              <a:rPr lang="en-US" sz="2400" dirty="0">
                <a:solidFill>
                  <a:schemeClr val="bg1"/>
                </a:solidFill>
                <a:latin typeface="Aharoni" panose="02010803020104030203" pitchFamily="2" charset="-79"/>
                <a:cs typeface="Aharoni" panose="02010803020104030203" pitchFamily="2" charset="-79"/>
              </a:rPr>
              <a:t>Active Directory Setup in VirtualBox</a:t>
            </a:r>
            <a:br>
              <a:rPr lang="en-US" sz="2400" dirty="0">
                <a:solidFill>
                  <a:schemeClr val="bg1"/>
                </a:solidFill>
                <a:latin typeface="Aharoni" panose="02010803020104030203" pitchFamily="2" charset="-79"/>
                <a:cs typeface="Aharoni" panose="02010803020104030203" pitchFamily="2" charset="-79"/>
              </a:rPr>
            </a:br>
            <a:r>
              <a:rPr lang="en-US" sz="2400" dirty="0">
                <a:solidFill>
                  <a:schemeClr val="bg1"/>
                </a:solidFill>
                <a:latin typeface="Aharoni" panose="02010803020104030203" pitchFamily="2" charset="-79"/>
                <a:cs typeface="Aharoni" panose="02010803020104030203" pitchFamily="2" charset="-79"/>
              </a:rPr>
              <a:t>11 References</a:t>
            </a:r>
            <a:br>
              <a:rPr lang="en-US" sz="2400" dirty="0">
                <a:solidFill>
                  <a:schemeClr val="bg1"/>
                </a:solidFill>
                <a:latin typeface="Aharoni" panose="02010803020104030203" pitchFamily="2" charset="-79"/>
                <a:cs typeface="Aharoni" panose="02010803020104030203" pitchFamily="2" charset="-79"/>
              </a:rPr>
            </a:br>
            <a:r>
              <a:rPr lang="en-US" sz="2400" dirty="0">
                <a:solidFill>
                  <a:schemeClr val="bg1"/>
                </a:solidFill>
                <a:latin typeface="Aharoni" panose="02010803020104030203" pitchFamily="2" charset="-79"/>
                <a:cs typeface="Aharoni" panose="02010803020104030203" pitchFamily="2" charset="-79"/>
              </a:rPr>
              <a:t>12 Conclusion</a:t>
            </a:r>
            <a:br>
              <a:rPr lang="en-US" altLang="en-US" sz="2400" dirty="0">
                <a:solidFill>
                  <a:schemeClr val="bg1"/>
                </a:solidFill>
                <a:latin typeface="Aharoni" panose="02010803020104030203" pitchFamily="2" charset="-79"/>
                <a:cs typeface="Aharoni" panose="02010803020104030203" pitchFamily="2" charset="-79"/>
              </a:rPr>
            </a:br>
            <a:br>
              <a:rPr lang="en-US" sz="2400" dirty="0">
                <a:solidFill>
                  <a:schemeClr val="bg1"/>
                </a:solidFill>
                <a:latin typeface="Aharoni" panose="02010803020104030203" pitchFamily="2" charset="-79"/>
                <a:cs typeface="Aharoni" panose="02010803020104030203" pitchFamily="2" charset="-79"/>
              </a:rPr>
            </a:br>
            <a:br>
              <a:rPr lang="en-US" sz="2400" dirty="0">
                <a:solidFill>
                  <a:schemeClr val="bg1"/>
                </a:solidFill>
                <a:latin typeface="Aharoni" panose="02010803020104030203" pitchFamily="2" charset="-79"/>
                <a:cs typeface="Aharoni" panose="02010803020104030203" pitchFamily="2" charset="-79"/>
              </a:rPr>
            </a:br>
            <a:br>
              <a:rPr lang="en-US" sz="2400" dirty="0">
                <a:solidFill>
                  <a:schemeClr val="bg1"/>
                </a:solidFill>
                <a:latin typeface="Aharoni" panose="02010803020104030203" pitchFamily="2" charset="-79"/>
                <a:cs typeface="Aharoni" panose="02010803020104030203" pitchFamily="2" charset="-79"/>
              </a:rPr>
            </a:br>
            <a:endParaRPr lang="en-US" sz="2400" dirty="0">
              <a:solidFill>
                <a:schemeClr val="bg1"/>
              </a:solidFill>
              <a:latin typeface="Aharoni" panose="02010803020104030203" pitchFamily="2" charset="-79"/>
              <a:cs typeface="Aharoni" panose="02010803020104030203" pitchFamily="2" charset="-79"/>
            </a:endParaRPr>
          </a:p>
        </p:txBody>
      </p:sp>
      <p:sp>
        <p:nvSpPr>
          <p:cNvPr id="7" name="Slide Number Placeholder 6">
            <a:extLst>
              <a:ext uri="{FF2B5EF4-FFF2-40B4-BE49-F238E27FC236}">
                <a16:creationId xmlns:a16="http://schemas.microsoft.com/office/drawing/2014/main" id="{C4781FA2-06A3-0FE0-5CEE-A5FBD603F872}"/>
              </a:ext>
            </a:extLst>
          </p:cNvPr>
          <p:cNvSpPr>
            <a:spLocks noGrp="1"/>
          </p:cNvSpPr>
          <p:nvPr>
            <p:ph type="sldNum" sz="quarter" idx="12"/>
          </p:nvPr>
        </p:nvSpPr>
        <p:spPr/>
        <p:txBody>
          <a:bodyPr/>
          <a:lstStyle/>
          <a:p>
            <a:fld id="{54092646-63C8-4ED7-BF80-A13A2D7A34BD}" type="slidenum">
              <a:rPr lang="en-US" smtClean="0">
                <a:solidFill>
                  <a:schemeClr val="tx1"/>
                </a:solidFill>
              </a:rPr>
              <a:t>2</a:t>
            </a:fld>
            <a:endParaRPr lang="en-US">
              <a:solidFill>
                <a:schemeClr val="tx1"/>
              </a:solidFill>
            </a:endParaRPr>
          </a:p>
        </p:txBody>
      </p:sp>
    </p:spTree>
    <p:extLst>
      <p:ext uri="{BB962C8B-B14F-4D97-AF65-F5344CB8AC3E}">
        <p14:creationId xmlns:p14="http://schemas.microsoft.com/office/powerpoint/2010/main" val="232630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42BBAC2-3C8D-C78B-7FD1-78EEF5989F08}"/>
              </a:ext>
            </a:extLst>
          </p:cNvPr>
          <p:cNvSpPr>
            <a:spLocks noGrp="1"/>
          </p:cNvSpPr>
          <p:nvPr>
            <p:ph type="title"/>
          </p:nvPr>
        </p:nvSpPr>
        <p:spPr>
          <a:xfrm>
            <a:off x="838200" y="796494"/>
            <a:ext cx="10515600" cy="45719"/>
          </a:xfrm>
          <a:noFill/>
        </p:spPr>
        <p:txBody>
          <a:bodyPr anchor="ctr">
            <a:normAutofit fontScale="90000"/>
          </a:bodyPr>
          <a:lstStyle/>
          <a:p>
            <a:pPr algn="ctr"/>
            <a:r>
              <a:rPr lang="en-US" sz="3200" dirty="0">
                <a:latin typeface="Bernard MT Condensed" panose="02050806060905020404" pitchFamily="18" charset="0"/>
              </a:rPr>
              <a:t>Overview of Redco</a:t>
            </a:r>
            <a:br>
              <a:rPr lang="en-US" sz="3200" dirty="0">
                <a:latin typeface="Bernard MT Condensed" panose="02050806060905020404" pitchFamily="18" charset="0"/>
              </a:rPr>
            </a:br>
            <a:endParaRPr lang="en-US" dirty="0">
              <a:latin typeface="Bernard MT Condensed" panose="02050806060905020404" pitchFamily="18" charset="0"/>
            </a:endParaRPr>
          </a:p>
        </p:txBody>
      </p:sp>
      <p:sp>
        <p:nvSpPr>
          <p:cNvPr id="5" name="Content Placeholder 2">
            <a:extLst>
              <a:ext uri="{FF2B5EF4-FFF2-40B4-BE49-F238E27FC236}">
                <a16:creationId xmlns:a16="http://schemas.microsoft.com/office/drawing/2014/main" id="{C5E4B8EE-CF6A-466D-4E0B-DE7D868EC726}"/>
              </a:ext>
            </a:extLst>
          </p:cNvPr>
          <p:cNvSpPr>
            <a:spLocks noGrp="1"/>
          </p:cNvSpPr>
          <p:nvPr>
            <p:ph idx="1"/>
          </p:nvPr>
        </p:nvSpPr>
        <p:spPr>
          <a:xfrm>
            <a:off x="838200" y="1132159"/>
            <a:ext cx="10515600" cy="4351338"/>
          </a:xfrm>
          <a:noFill/>
        </p:spPr>
        <p:txBody>
          <a:bodyPr vert="horz" lIns="91440" tIns="45720" rIns="91440" bIns="45720" rtlCol="0" anchor="t">
            <a:normAutofit/>
          </a:bodyPr>
          <a:lstStyle/>
          <a:p>
            <a:pPr marL="0" indent="0">
              <a:buNone/>
            </a:pPr>
            <a:r>
              <a:rPr lang="en-US" sz="1800" dirty="0">
                <a:latin typeface="Times New Roman" panose="02020603050405020304" pitchFamily="18" charset="0"/>
                <a:cs typeface="Times New Roman" panose="02020603050405020304" pitchFamily="18" charset="0"/>
              </a:rPr>
              <a:t>Redco Developments is a Sri Lankan-based mobile app development company with its head office in Kandy and has recently approved the opening of a new branch in Galle.</a:t>
            </a:r>
          </a:p>
        </p:txBody>
      </p:sp>
      <p:sp>
        <p:nvSpPr>
          <p:cNvPr id="7" name="TextBox 6">
            <a:extLst>
              <a:ext uri="{FF2B5EF4-FFF2-40B4-BE49-F238E27FC236}">
                <a16:creationId xmlns:a16="http://schemas.microsoft.com/office/drawing/2014/main" id="{9BC6AEA2-14F7-4474-F7B0-372A9D081817}"/>
              </a:ext>
            </a:extLst>
          </p:cNvPr>
          <p:cNvSpPr txBox="1"/>
          <p:nvPr/>
        </p:nvSpPr>
        <p:spPr>
          <a:xfrm>
            <a:off x="838200" y="2157748"/>
            <a:ext cx="11025851" cy="4308872"/>
          </a:xfrm>
          <a:prstGeom prst="rect">
            <a:avLst/>
          </a:prstGeom>
          <a:noFill/>
        </p:spPr>
        <p:txBody>
          <a:bodyPr wrap="square">
            <a:spAutoFit/>
          </a:bodyPr>
          <a:lstStyle/>
          <a:p>
            <a:pPr marL="0" indent="0" eaLnBrk="0" fontAlgn="base" hangingPunct="0">
              <a:lnSpc>
                <a:spcPct val="100000"/>
              </a:lnSpc>
              <a:spcBef>
                <a:spcPct val="0"/>
              </a:spcBef>
              <a:spcAft>
                <a:spcPct val="0"/>
              </a:spcAft>
              <a:buClrTx/>
              <a:buNone/>
            </a:pPr>
            <a:r>
              <a:rPr kumimoji="0" lang="en-US" altLang="en-US" sz="20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What is a network?</a:t>
            </a:r>
          </a:p>
          <a:p>
            <a:pPr eaLnBrk="0" fontAlgn="base" hangingPunct="0">
              <a:spcBef>
                <a:spcPct val="0"/>
              </a:spcBef>
              <a:spcAft>
                <a:spcPct val="0"/>
              </a:spcAft>
            </a:pPr>
            <a:r>
              <a:rPr lang="en-US" sz="1800" dirty="0">
                <a:latin typeface="Times New Roman" panose="02020603050405020304" pitchFamily="18" charset="0"/>
                <a:cs typeface="Times New Roman" panose="02020603050405020304" pitchFamily="18" charset="0"/>
              </a:rPr>
              <a:t>A computer network is a system where multiple computers and other digital devices are connected to share information and resources and these devices are connected using communication media like Wi-Fi</a:t>
            </a:r>
            <a:r>
              <a:rPr lang="en-US" dirty="0">
                <a:latin typeface="Times New Roman" panose="02020603050405020304" pitchFamily="18" charset="0"/>
                <a:cs typeface="Times New Roman" panose="02020603050405020304" pitchFamily="18" charset="0"/>
              </a:rPr>
              <a:t> </a:t>
            </a:r>
            <a:r>
              <a:rPr lang="en-US" dirty="0"/>
              <a:t>(TechTarget, 2023).</a:t>
            </a:r>
            <a:endParaRPr lang="en-US" sz="18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ClrTx/>
              <a:buNone/>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ClrTx/>
              <a:buNone/>
            </a:pPr>
            <a:endParaRPr lang="en-US" altLang="en-US" sz="1800" b="1" dirty="0">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lang="en-US" altLang="en-US" sz="2000" b="1" u="sng" dirty="0">
                <a:latin typeface="Times New Roman" panose="02020603050405020304" pitchFamily="18" charset="0"/>
                <a:cs typeface="Times New Roman" panose="02020603050405020304" pitchFamily="18" charset="0"/>
              </a:rPr>
              <a:t>2 Use and benefits of network</a:t>
            </a:r>
            <a:endParaRPr lang="en-US" altLang="en-US" b="1" dirty="0">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lang="en-US" dirty="0">
                <a:latin typeface="Times New Roman" panose="02020603050405020304" pitchFamily="18" charset="0"/>
                <a:cs typeface="Times New Roman" panose="02020603050405020304" pitchFamily="18" charset="0"/>
              </a:rPr>
              <a:t>The main use of a computer network is to allow data to be exchanged through sharing of information such as files, applications, and hardware devices like printers, or storage devices</a:t>
            </a:r>
          </a:p>
          <a:p>
            <a:pPr eaLnBrk="0" fontAlgn="base" hangingPunct="0">
              <a:spcBef>
                <a:spcPct val="0"/>
              </a:spcBef>
              <a:spcAft>
                <a:spcPct val="0"/>
              </a:spcAft>
            </a:pPr>
            <a:endParaRPr lang="en-US" dirty="0">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endParaRPr lang="en-US" dirty="0">
              <a:latin typeface="Times New Roman" panose="02020603050405020304" pitchFamily="18" charset="0"/>
              <a:cs typeface="Times New Roman" panose="02020603050405020304" pitchFamily="18" charset="0"/>
            </a:endParaRPr>
          </a:p>
          <a:p>
            <a:pPr marL="285750" indent="-285750" eaLnBrk="0" fontAlgn="base" hangingPunct="0">
              <a:lnSpc>
                <a:spcPct val="100000"/>
              </a:lnSpc>
              <a:spcBef>
                <a:spcPct val="0"/>
              </a:spcBef>
              <a:spcAft>
                <a:spcPct val="0"/>
              </a:spcAft>
              <a:buClrTx/>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Shared hardware like printers and files</a:t>
            </a:r>
          </a:p>
          <a:p>
            <a:pPr marL="285750" indent="-285750" eaLnBrk="0" fontAlgn="base" hangingPunct="0">
              <a:lnSpc>
                <a:spcPct val="100000"/>
              </a:lnSpc>
              <a:spcBef>
                <a:spcPct val="0"/>
              </a:spcBef>
              <a:spcAft>
                <a:spcPct val="0"/>
              </a:spcAft>
              <a:buClrTx/>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Centralized management</a:t>
            </a:r>
          </a:p>
          <a:p>
            <a:pPr marL="285750" indent="-285750" eaLnBrk="0" fontAlgn="base" hangingPunct="0">
              <a:lnSpc>
                <a:spcPct val="100000"/>
              </a:lnSpc>
              <a:spcBef>
                <a:spcPct val="0"/>
              </a:spcBef>
              <a:spcAft>
                <a:spcPct val="0"/>
              </a:spcAft>
              <a:buClrTx/>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Flexibility</a:t>
            </a:r>
          </a:p>
          <a:p>
            <a:pPr marL="285750" indent="-285750" eaLnBrk="0" fontAlgn="base" hangingPunct="0">
              <a:lnSpc>
                <a:spcPct val="100000"/>
              </a:lnSpc>
              <a:spcBef>
                <a:spcPct val="0"/>
              </a:spcBef>
              <a:spcAft>
                <a:spcPct val="0"/>
              </a:spcAft>
              <a:buClrTx/>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Easy communication</a:t>
            </a:r>
          </a:p>
          <a:p>
            <a:pPr marL="0" indent="0" eaLnBrk="0" fontAlgn="base" hangingPunct="0">
              <a:lnSpc>
                <a:spcPct val="100000"/>
              </a:lnSpc>
              <a:spcBef>
                <a:spcPct val="0"/>
              </a:spcBef>
              <a:spcAft>
                <a:spcPct val="0"/>
              </a:spcAft>
              <a:buClrTx/>
              <a:buNone/>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098" name="Picture 2">
            <a:extLst>
              <a:ext uri="{FF2B5EF4-FFF2-40B4-BE49-F238E27FC236}">
                <a16:creationId xmlns:a16="http://schemas.microsoft.com/office/drawing/2014/main" id="{65BF4F9C-ADFD-E2B3-4737-D902A36249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9999" y="4435747"/>
            <a:ext cx="3143250" cy="2095500"/>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7C348FAD-06F3-9D47-CB95-1B86457DAFFC}"/>
              </a:ext>
            </a:extLst>
          </p:cNvPr>
          <p:cNvSpPr>
            <a:spLocks noGrp="1"/>
          </p:cNvSpPr>
          <p:nvPr>
            <p:ph type="sldNum" sz="quarter" idx="12"/>
          </p:nvPr>
        </p:nvSpPr>
        <p:spPr/>
        <p:txBody>
          <a:bodyPr/>
          <a:lstStyle/>
          <a:p>
            <a:fld id="{54092646-63C8-4ED7-BF80-A13A2D7A34BD}" type="slidenum">
              <a:rPr lang="en-US" smtClean="0">
                <a:solidFill>
                  <a:schemeClr val="tx1"/>
                </a:solidFill>
              </a:rPr>
              <a:t>3</a:t>
            </a:fld>
            <a:endParaRPr lang="en-US">
              <a:solidFill>
                <a:schemeClr val="tx1"/>
              </a:solidFill>
            </a:endParaRPr>
          </a:p>
        </p:txBody>
      </p:sp>
    </p:spTree>
    <p:extLst>
      <p:ext uri="{BB962C8B-B14F-4D97-AF65-F5344CB8AC3E}">
        <p14:creationId xmlns:p14="http://schemas.microsoft.com/office/powerpoint/2010/main" val="18705864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E421098-9AF2-3CE2-974A-22D997500FD9}"/>
              </a:ext>
            </a:extLst>
          </p:cNvPr>
          <p:cNvSpPr>
            <a:spLocks noGrp="1"/>
          </p:cNvSpPr>
          <p:nvPr>
            <p:ph type="title"/>
          </p:nvPr>
        </p:nvSpPr>
        <p:spPr>
          <a:xfrm>
            <a:off x="838200" y="591751"/>
            <a:ext cx="10515600" cy="178572"/>
          </a:xfrm>
          <a:noFill/>
        </p:spPr>
        <p:txBody>
          <a:bodyPr anchor="ctr">
            <a:normAutofit fontScale="90000"/>
          </a:bodyPr>
          <a:lstStyle/>
          <a:p>
            <a:pPr algn="ctr"/>
            <a:r>
              <a:rPr lang="en-US" sz="3200" dirty="0">
                <a:latin typeface="Bernard MT Condensed" panose="02050806060905020404" pitchFamily="18" charset="0"/>
              </a:rPr>
              <a:t>Network Type </a:t>
            </a:r>
            <a:br>
              <a:rPr lang="en-US" sz="3200" dirty="0">
                <a:latin typeface="Bernard MT Condensed" panose="02050806060905020404" pitchFamily="18" charset="0"/>
              </a:rPr>
            </a:br>
            <a:endParaRPr lang="en-US" dirty="0">
              <a:latin typeface="Bernard MT Condensed" panose="02050806060905020404" pitchFamily="18" charset="0"/>
            </a:endParaRPr>
          </a:p>
        </p:txBody>
      </p:sp>
      <p:sp>
        <p:nvSpPr>
          <p:cNvPr id="5" name="Rectangle 1">
            <a:extLst>
              <a:ext uri="{FF2B5EF4-FFF2-40B4-BE49-F238E27FC236}">
                <a16:creationId xmlns:a16="http://schemas.microsoft.com/office/drawing/2014/main" id="{352EED2F-B5C9-7B49-1F00-8EFCA5096BA1}"/>
              </a:ext>
            </a:extLst>
          </p:cNvPr>
          <p:cNvSpPr>
            <a:spLocks noGrp="1" noChangeArrowheads="1"/>
          </p:cNvSpPr>
          <p:nvPr>
            <p:ph idx="1"/>
          </p:nvPr>
        </p:nvSpPr>
        <p:spPr bwMode="auto">
          <a:xfrm>
            <a:off x="688436" y="454792"/>
            <a:ext cx="11276866" cy="621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ClrTx/>
              <a:buNone/>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ClrTx/>
              <a:buNone/>
            </a:pPr>
            <a:r>
              <a:rPr lang="en-US" altLang="en-US" sz="2000" b="1" u="sng" dirty="0">
                <a:latin typeface="Times New Roman" panose="02020603050405020304" pitchFamily="18" charset="0"/>
                <a:cs typeface="Times New Roman" panose="02020603050405020304" pitchFamily="18" charset="0"/>
              </a:rPr>
              <a:t>Types of network</a:t>
            </a:r>
          </a:p>
          <a:p>
            <a:pPr marL="0" indent="0" eaLnBrk="0" fontAlgn="base" hangingPunct="0">
              <a:lnSpc>
                <a:spcPct val="100000"/>
              </a:lnSpc>
              <a:spcBef>
                <a:spcPct val="0"/>
              </a:spcBef>
              <a:spcAft>
                <a:spcPct val="0"/>
              </a:spcAft>
              <a:buClrTx/>
              <a:buNone/>
            </a:pPr>
            <a:endParaRPr lang="en-US" altLang="en-US" sz="1800" b="1"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ClrTx/>
              <a:buNone/>
            </a:pPr>
            <a:r>
              <a:rPr lang="en-US" sz="1800" b="1" dirty="0">
                <a:latin typeface="Times New Roman" panose="02020603050405020304" pitchFamily="18" charset="0"/>
                <a:cs typeface="Times New Roman" panose="02020603050405020304" pitchFamily="18" charset="0"/>
              </a:rPr>
              <a:t>2.1 LAN (Local Area Network)</a:t>
            </a:r>
            <a:r>
              <a:rPr lang="en-US" sz="1800" dirty="0">
                <a:latin typeface="Times New Roman" panose="02020603050405020304" pitchFamily="18" charset="0"/>
                <a:cs typeface="Times New Roman" panose="02020603050405020304" pitchFamily="18" charset="0"/>
              </a:rPr>
              <a:t> – Covers small areas like offices or buildings, i</a:t>
            </a:r>
            <a:r>
              <a:rPr lang="en-US" sz="1800" dirty="0"/>
              <a:t>t connects PCs, printers, and servers within short distances and is very fast and affordable.</a:t>
            </a:r>
            <a:r>
              <a:rPr lang="en-US" sz="1800" dirty="0">
                <a:latin typeface="Times New Roman" panose="02020603050405020304" pitchFamily="18" charset="0"/>
                <a:cs typeface="Times New Roman" panose="02020603050405020304" pitchFamily="18" charset="0"/>
              </a:rPr>
              <a:t> </a:t>
            </a:r>
          </a:p>
          <a:p>
            <a:pPr marL="0" indent="0" eaLnBrk="0" fontAlgn="base" hangingPunct="0">
              <a:lnSpc>
                <a:spcPct val="100000"/>
              </a:lnSpc>
              <a:spcBef>
                <a:spcPct val="0"/>
              </a:spcBef>
              <a:spcAft>
                <a:spcPct val="0"/>
              </a:spcAft>
              <a:buClrTx/>
              <a:buNone/>
            </a:pPr>
            <a:endParaRPr lang="en-US" sz="18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ClrTx/>
              <a:buNone/>
            </a:pPr>
            <a:endParaRPr lang="en-US" sz="18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ClrTx/>
              <a:buNone/>
            </a:pPr>
            <a:endParaRPr lang="en-US" sz="18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ClrTx/>
              <a:buNone/>
            </a:pPr>
            <a:endParaRPr lang="en-US" sz="18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ClrTx/>
              <a:buNone/>
            </a:pPr>
            <a:endParaRPr lang="en-US" sz="18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ClrTx/>
              <a:buNone/>
            </a:pPr>
            <a:endParaRPr lang="en-US" sz="18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ClrTx/>
              <a:buNone/>
            </a:pPr>
            <a:endParaRPr lang="en-US" sz="18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ClrTx/>
              <a:buNone/>
            </a:pPr>
            <a:r>
              <a:rPr lang="en-US" sz="1800" b="1" dirty="0">
                <a:latin typeface="Times New Roman" panose="02020603050405020304" pitchFamily="18" charset="0"/>
                <a:cs typeface="Times New Roman" panose="02020603050405020304" pitchFamily="18" charset="0"/>
              </a:rPr>
              <a:t>2.2 WAN (Wide Area Network)- </a:t>
            </a:r>
            <a:r>
              <a:rPr lang="en-US" sz="1800" dirty="0">
                <a:latin typeface="Times New Roman" panose="02020603050405020304" pitchFamily="18" charset="0"/>
                <a:cs typeface="Times New Roman" panose="02020603050405020304" pitchFamily="18" charset="0"/>
              </a:rPr>
              <a:t>connects networks over long distances, like department in Galle and Kandy. The biggest example of WAN is the internet.</a:t>
            </a:r>
          </a:p>
          <a:p>
            <a:pPr marL="0" indent="0" eaLnBrk="0" fontAlgn="base" hangingPunct="0">
              <a:lnSpc>
                <a:spcPct val="100000"/>
              </a:lnSpc>
              <a:spcBef>
                <a:spcPct val="0"/>
              </a:spcBef>
              <a:spcAft>
                <a:spcPct val="0"/>
              </a:spcAft>
              <a:buClrTx/>
              <a:buNone/>
            </a:pPr>
            <a:endParaRPr lang="en-US" sz="18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ClrTx/>
              <a:buNone/>
            </a:pPr>
            <a:endParaRPr lang="en-US" sz="18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ClrTx/>
              <a:buNone/>
            </a:pPr>
            <a:endParaRPr lang="en-US" sz="18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ClrTx/>
              <a:buNone/>
            </a:pPr>
            <a:endParaRPr lang="en-US" sz="18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ClrTx/>
              <a:buNone/>
            </a:pPr>
            <a:endParaRPr lang="en-US" sz="18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ClrTx/>
              <a:buNone/>
            </a:pPr>
            <a:endParaRPr lang="en-US" sz="18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ClrTx/>
              <a:buNone/>
            </a:pPr>
            <a:endParaRPr lang="en-US" sz="18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ClrTx/>
              <a:buNone/>
            </a:pPr>
            <a:endParaRPr lang="en-US" sz="1800" dirty="0">
              <a:latin typeface="Times New Roman" panose="02020603050405020304" pitchFamily="18" charset="0"/>
              <a:cs typeface="Times New Roman" panose="02020603050405020304" pitchFamily="18" charset="0"/>
            </a:endParaRPr>
          </a:p>
        </p:txBody>
      </p:sp>
      <p:pic>
        <p:nvPicPr>
          <p:cNvPr id="1032" name="Picture 8">
            <a:extLst>
              <a:ext uri="{FF2B5EF4-FFF2-40B4-BE49-F238E27FC236}">
                <a16:creationId xmlns:a16="http://schemas.microsoft.com/office/drawing/2014/main" id="{27708B84-BAF5-C145-9C2D-06D4131526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39962" y="1991533"/>
            <a:ext cx="3459136" cy="172956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CF47253D-421B-44EE-7A79-E0F7358C2F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1756" y="4577276"/>
            <a:ext cx="3535547" cy="2119401"/>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DBAD79EA-6C02-2808-E99C-7FAE74463A59}"/>
              </a:ext>
            </a:extLst>
          </p:cNvPr>
          <p:cNvSpPr>
            <a:spLocks noGrp="1"/>
          </p:cNvSpPr>
          <p:nvPr>
            <p:ph type="sldNum" sz="quarter" idx="12"/>
          </p:nvPr>
        </p:nvSpPr>
        <p:spPr/>
        <p:txBody>
          <a:bodyPr/>
          <a:lstStyle/>
          <a:p>
            <a:fld id="{54092646-63C8-4ED7-BF80-A13A2D7A34BD}" type="slidenum">
              <a:rPr lang="en-US" smtClean="0">
                <a:solidFill>
                  <a:schemeClr val="tx1"/>
                </a:solidFill>
              </a:rPr>
              <a:t>4</a:t>
            </a:fld>
            <a:endParaRPr lang="en-US">
              <a:solidFill>
                <a:schemeClr val="tx1"/>
              </a:solidFill>
            </a:endParaRPr>
          </a:p>
        </p:txBody>
      </p:sp>
    </p:spTree>
    <p:extLst>
      <p:ext uri="{BB962C8B-B14F-4D97-AF65-F5344CB8AC3E}">
        <p14:creationId xmlns:p14="http://schemas.microsoft.com/office/powerpoint/2010/main" val="3567339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4CBD1EE-A003-0F96-6FBE-79AE0AFB34A2}"/>
              </a:ext>
            </a:extLst>
          </p:cNvPr>
          <p:cNvSpPr txBox="1"/>
          <p:nvPr/>
        </p:nvSpPr>
        <p:spPr>
          <a:xfrm>
            <a:off x="355257" y="295701"/>
            <a:ext cx="11470159" cy="3693319"/>
          </a:xfrm>
          <a:prstGeom prst="rect">
            <a:avLst/>
          </a:prstGeom>
          <a:noFill/>
        </p:spPr>
        <p:txBody>
          <a:bodyPr wrap="square">
            <a:spAutoFit/>
          </a:bodyPr>
          <a:lstStyle/>
          <a:p>
            <a:pPr eaLnBrk="0" fontAlgn="base" hangingPunct="0">
              <a:spcBef>
                <a:spcPct val="0"/>
              </a:spcBef>
              <a:spcAft>
                <a:spcPct val="0"/>
              </a:spcAft>
            </a:pPr>
            <a:r>
              <a:rPr lang="en-US" sz="1800" b="1" dirty="0">
                <a:latin typeface="Times New Roman" panose="02020603050405020304" pitchFamily="18" charset="0"/>
                <a:cs typeface="Times New Roman" panose="02020603050405020304" pitchFamily="18" charset="0"/>
              </a:rPr>
              <a:t>2.3 MAN (Metropolitan Area Network)</a:t>
            </a:r>
            <a:r>
              <a:rPr lang="en-US" sz="1800" dirty="0">
                <a:latin typeface="Times New Roman" panose="02020603050405020304" pitchFamily="18" charset="0"/>
                <a:cs typeface="Times New Roman" panose="02020603050405020304" pitchFamily="18" charset="0"/>
              </a:rPr>
              <a:t> – </a:t>
            </a:r>
            <a:r>
              <a:rPr lang="en-US" dirty="0"/>
              <a:t>It’s commonly used in places like universities or campus across a city (Cisco, 2023).</a:t>
            </a:r>
            <a:endParaRPr lang="en-US"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ClrTx/>
              <a:buNone/>
            </a:pPr>
            <a:endParaRPr lang="en-US" sz="18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ClrTx/>
              <a:buNone/>
            </a:pPr>
            <a:endParaRPr lang="en-US"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ClrTx/>
              <a:buNone/>
            </a:pPr>
            <a:endParaRPr lang="en-US" sz="18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ClrTx/>
              <a:buNone/>
            </a:pPr>
            <a:endParaRPr lang="en-US"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ClrTx/>
              <a:buNone/>
            </a:pPr>
            <a:endParaRPr lang="en-US" sz="18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ClrTx/>
              <a:buNone/>
            </a:pPr>
            <a:endParaRPr lang="en-US"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ClrTx/>
              <a:buNone/>
            </a:pPr>
            <a:endParaRPr lang="en-US" sz="18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ClrTx/>
              <a:buNone/>
            </a:pPr>
            <a:endParaRPr lang="en-US" sz="18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ClrTx/>
              <a:buNone/>
            </a:pPr>
            <a:endParaRPr lang="en-US" sz="18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ClrTx/>
              <a:buNone/>
            </a:pPr>
            <a:r>
              <a:rPr lang="en-US" altLang="en-US" sz="1800" b="1" dirty="0">
                <a:latin typeface="Times New Roman" panose="02020603050405020304" pitchFamily="18" charset="0"/>
                <a:cs typeface="Times New Roman" panose="02020603050405020304" pitchFamily="18" charset="0"/>
              </a:rPr>
              <a:t>2.4 PAN (Personal Area Network)- </a:t>
            </a:r>
            <a:r>
              <a:rPr lang="en-US" altLang="en-US" sz="1800" dirty="0">
                <a:latin typeface="Times New Roman" panose="02020603050405020304" pitchFamily="18" charset="0"/>
                <a:cs typeface="Times New Roman" panose="02020603050405020304" pitchFamily="18" charset="0"/>
              </a:rPr>
              <a:t>connects devices over a short distance, such as phones, smartwatches even Redco’s smart lighting and gates.</a:t>
            </a:r>
          </a:p>
        </p:txBody>
      </p:sp>
      <p:pic>
        <p:nvPicPr>
          <p:cNvPr id="2050" name="Picture 2">
            <a:extLst>
              <a:ext uri="{FF2B5EF4-FFF2-40B4-BE49-F238E27FC236}">
                <a16:creationId xmlns:a16="http://schemas.microsoft.com/office/drawing/2014/main" id="{EAF2548E-F212-D61A-A89C-D883435BBD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51434" y="711199"/>
            <a:ext cx="2444001" cy="226349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D67D6372-485A-FD95-7D8E-4622251125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3911" y="3865944"/>
            <a:ext cx="2658140" cy="2073348"/>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DCD59DC1-FE3F-7B03-7DE6-4BB0DF6F3CB1}"/>
              </a:ext>
            </a:extLst>
          </p:cNvPr>
          <p:cNvSpPr>
            <a:spLocks noGrp="1"/>
          </p:cNvSpPr>
          <p:nvPr>
            <p:ph type="sldNum" sz="quarter" idx="12"/>
          </p:nvPr>
        </p:nvSpPr>
        <p:spPr/>
        <p:txBody>
          <a:bodyPr/>
          <a:lstStyle/>
          <a:p>
            <a:fld id="{54092646-63C8-4ED7-BF80-A13A2D7A34BD}" type="slidenum">
              <a:rPr lang="en-US" smtClean="0">
                <a:solidFill>
                  <a:schemeClr val="tx1"/>
                </a:solidFill>
              </a:rPr>
              <a:t>5</a:t>
            </a:fld>
            <a:endParaRPr lang="en-US">
              <a:solidFill>
                <a:schemeClr val="tx1"/>
              </a:solidFill>
            </a:endParaRPr>
          </a:p>
        </p:txBody>
      </p:sp>
    </p:spTree>
    <p:extLst>
      <p:ext uri="{BB962C8B-B14F-4D97-AF65-F5344CB8AC3E}">
        <p14:creationId xmlns:p14="http://schemas.microsoft.com/office/powerpoint/2010/main" val="28617327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3C939-660D-A18C-BE96-ECEA33CE25CE}"/>
              </a:ext>
            </a:extLst>
          </p:cNvPr>
          <p:cNvSpPr>
            <a:spLocks noGrp="1"/>
          </p:cNvSpPr>
          <p:nvPr>
            <p:ph type="title"/>
          </p:nvPr>
        </p:nvSpPr>
        <p:spPr>
          <a:xfrm>
            <a:off x="3841348" y="203079"/>
            <a:ext cx="4509304" cy="327487"/>
          </a:xfrm>
        </p:spPr>
        <p:txBody>
          <a:bodyPr>
            <a:noAutofit/>
          </a:bodyPr>
          <a:lstStyle/>
          <a:p>
            <a:pPr algn="ctr"/>
            <a:r>
              <a:rPr lang="en-US" sz="2900" dirty="0">
                <a:latin typeface="Bernard MT Condensed" panose="02050806060905020404" pitchFamily="18" charset="0"/>
              </a:rPr>
              <a:t>Network Topology </a:t>
            </a:r>
          </a:p>
        </p:txBody>
      </p:sp>
      <p:sp>
        <p:nvSpPr>
          <p:cNvPr id="4" name="Rectangle 1">
            <a:extLst>
              <a:ext uri="{FF2B5EF4-FFF2-40B4-BE49-F238E27FC236}">
                <a16:creationId xmlns:a16="http://schemas.microsoft.com/office/drawing/2014/main" id="{52D9BC97-24BA-C6C9-ADB1-7E9A5B57FDC2}"/>
              </a:ext>
            </a:extLst>
          </p:cNvPr>
          <p:cNvSpPr>
            <a:spLocks noChangeArrowheads="1"/>
          </p:cNvSpPr>
          <p:nvPr/>
        </p:nvSpPr>
        <p:spPr bwMode="auto">
          <a:xfrm>
            <a:off x="1215402" y="1043095"/>
            <a:ext cx="6295313" cy="2954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What is Network Topology?</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layout or structure of how devices are connected in a network</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Ty</a:t>
            </a:r>
            <a:r>
              <a:rPr lang="en-US" altLang="en-US" sz="2000" b="1" u="sng" dirty="0">
                <a:latin typeface="Times New Roman" panose="02020603050405020304" pitchFamily="18" charset="0"/>
                <a:cs typeface="Times New Roman" panose="02020603050405020304" pitchFamily="18" charset="0"/>
              </a:rPr>
              <a:t>pes of Network Topology</a:t>
            </a:r>
          </a:p>
          <a:p>
            <a:pPr marL="0" marR="0" lvl="0" indent="0" algn="l" defTabSz="914400" rtl="0" eaLnBrk="0" fontAlgn="base" latinLnBrk="0" hangingPunct="0">
              <a:lnSpc>
                <a:spcPct val="100000"/>
              </a:lnSpc>
              <a:spcBef>
                <a:spcPct val="0"/>
              </a:spcBef>
              <a:spcAft>
                <a:spcPct val="0"/>
              </a:spcAft>
              <a:buClrTx/>
              <a:buSzTx/>
              <a:tabLst/>
            </a:pPr>
            <a:endParaRPr lang="en-US" altLang="en-US" sz="2000" b="1" u="sng" dirty="0">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Single cable backbone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Devices connected to a central switch or router</a:t>
            </a:r>
            <a:endParaRPr lang="en-US" altLang="en-US" dirty="0">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lang="en-US" altLang="en-US" dirty="0">
                <a:latin typeface="Times New Roman" panose="02020603050405020304" pitchFamily="18" charset="0"/>
                <a:cs typeface="Times New Roman" panose="02020603050405020304" pitchFamily="18" charset="0"/>
              </a:rPr>
              <a:t>Devices form a circle and data pass in one direction</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Mesh</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Devices are interconnected with each other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Hybrid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Mix of different topologies</a:t>
            </a:r>
          </a:p>
        </p:txBody>
      </p:sp>
      <p:pic>
        <p:nvPicPr>
          <p:cNvPr id="4103" name="Picture 7">
            <a:extLst>
              <a:ext uri="{FF2B5EF4-FFF2-40B4-BE49-F238E27FC236}">
                <a16:creationId xmlns:a16="http://schemas.microsoft.com/office/drawing/2014/main" id="{A4581D98-2756-2168-3FE3-A8324DECAD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3785" y="4145153"/>
            <a:ext cx="2743200" cy="2509768"/>
          </a:xfrm>
          <a:prstGeom prst="rect">
            <a:avLst/>
          </a:prstGeom>
          <a:noFill/>
          <a:extLst>
            <a:ext uri="{909E8E84-426E-40DD-AFC4-6F175D3DCCD1}">
              <a14:hiddenFill xmlns:a14="http://schemas.microsoft.com/office/drawing/2010/main">
                <a:solidFill>
                  <a:srgbClr val="FFFFFF"/>
                </a:solidFill>
              </a14:hiddenFill>
            </a:ext>
          </a:extLst>
        </p:spPr>
      </p:pic>
      <p:pic>
        <p:nvPicPr>
          <p:cNvPr id="4105" name="Picture 9">
            <a:extLst>
              <a:ext uri="{FF2B5EF4-FFF2-40B4-BE49-F238E27FC236}">
                <a16:creationId xmlns:a16="http://schemas.microsoft.com/office/drawing/2014/main" id="{8686CC61-F641-07C2-164D-88091D1D3DA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8975"/>
          <a:stretch>
            <a:fillRect/>
          </a:stretch>
        </p:blipFill>
        <p:spPr bwMode="auto">
          <a:xfrm>
            <a:off x="3581401" y="4145153"/>
            <a:ext cx="2765118" cy="2576321"/>
          </a:xfrm>
          <a:prstGeom prst="rect">
            <a:avLst/>
          </a:prstGeom>
          <a:noFill/>
          <a:extLst>
            <a:ext uri="{909E8E84-426E-40DD-AFC4-6F175D3DCCD1}">
              <a14:hiddenFill xmlns:a14="http://schemas.microsoft.com/office/drawing/2010/main">
                <a:solidFill>
                  <a:srgbClr val="FFFFFF"/>
                </a:solidFill>
              </a14:hiddenFill>
            </a:ext>
          </a:extLst>
        </p:spPr>
      </p:pic>
      <p:pic>
        <p:nvPicPr>
          <p:cNvPr id="4109" name="Picture 13">
            <a:extLst>
              <a:ext uri="{FF2B5EF4-FFF2-40B4-BE49-F238E27FC236}">
                <a16:creationId xmlns:a16="http://schemas.microsoft.com/office/drawing/2014/main" id="{05A2F6C4-EF57-47DD-BB86-E808AA2BE1D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5503" r="3611"/>
          <a:stretch>
            <a:fillRect/>
          </a:stretch>
        </p:blipFill>
        <p:spPr bwMode="auto">
          <a:xfrm>
            <a:off x="195847" y="4113219"/>
            <a:ext cx="3218288" cy="2608256"/>
          </a:xfrm>
          <a:prstGeom prst="rect">
            <a:avLst/>
          </a:prstGeom>
          <a:noFill/>
          <a:extLst>
            <a:ext uri="{909E8E84-426E-40DD-AFC4-6F175D3DCCD1}">
              <a14:hiddenFill xmlns:a14="http://schemas.microsoft.com/office/drawing/2010/main">
                <a:solidFill>
                  <a:srgbClr val="FFFFFF"/>
                </a:solidFill>
              </a14:hiddenFill>
            </a:ext>
          </a:extLst>
        </p:spPr>
      </p:pic>
      <p:pic>
        <p:nvPicPr>
          <p:cNvPr id="4111" name="Picture 15">
            <a:extLst>
              <a:ext uri="{FF2B5EF4-FFF2-40B4-BE49-F238E27FC236}">
                <a16:creationId xmlns:a16="http://schemas.microsoft.com/office/drawing/2014/main" id="{A745575C-6F7D-E201-0B4F-AF4422EB3B6E}"/>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1084" r="21835"/>
          <a:stretch>
            <a:fillRect/>
          </a:stretch>
        </p:blipFill>
        <p:spPr bwMode="auto">
          <a:xfrm>
            <a:off x="8859045" y="2258184"/>
            <a:ext cx="3031647" cy="2259670"/>
          </a:xfrm>
          <a:prstGeom prst="rect">
            <a:avLst/>
          </a:prstGeom>
          <a:noFill/>
          <a:extLst>
            <a:ext uri="{909E8E84-426E-40DD-AFC4-6F175D3DCCD1}">
              <a14:hiddenFill xmlns:a14="http://schemas.microsoft.com/office/drawing/2010/main">
                <a:solidFill>
                  <a:srgbClr val="FFFFFF"/>
                </a:solidFill>
              </a14:hiddenFill>
            </a:ext>
          </a:extLst>
        </p:spPr>
      </p:pic>
      <p:pic>
        <p:nvPicPr>
          <p:cNvPr id="4115" name="Picture 19">
            <a:extLst>
              <a:ext uri="{FF2B5EF4-FFF2-40B4-BE49-F238E27FC236}">
                <a16:creationId xmlns:a16="http://schemas.microsoft.com/office/drawing/2014/main" id="{0F2F6CBE-89F2-0B16-BE98-AAD03649492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20093" y="143447"/>
            <a:ext cx="3170600" cy="1799296"/>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10489029-EEE8-7F7B-7E0E-B077D928A40D}"/>
              </a:ext>
            </a:extLst>
          </p:cNvPr>
          <p:cNvSpPr>
            <a:spLocks noGrp="1"/>
          </p:cNvSpPr>
          <p:nvPr>
            <p:ph type="sldNum" sz="quarter" idx="12"/>
          </p:nvPr>
        </p:nvSpPr>
        <p:spPr/>
        <p:txBody>
          <a:bodyPr/>
          <a:lstStyle/>
          <a:p>
            <a:fld id="{54092646-63C8-4ED7-BF80-A13A2D7A34BD}" type="slidenum">
              <a:rPr lang="en-US" smtClean="0">
                <a:solidFill>
                  <a:schemeClr val="tx1"/>
                </a:solidFill>
              </a:rPr>
              <a:t>6</a:t>
            </a:fld>
            <a:endParaRPr lang="en-US" dirty="0">
              <a:solidFill>
                <a:schemeClr val="tx1"/>
              </a:solidFill>
            </a:endParaRPr>
          </a:p>
        </p:txBody>
      </p:sp>
    </p:spTree>
    <p:extLst>
      <p:ext uri="{BB962C8B-B14F-4D97-AF65-F5344CB8AC3E}">
        <p14:creationId xmlns:p14="http://schemas.microsoft.com/office/powerpoint/2010/main" val="39170364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93413-905C-9AFA-42B7-90C9FA7A9357}"/>
              </a:ext>
            </a:extLst>
          </p:cNvPr>
          <p:cNvSpPr>
            <a:spLocks noGrp="1"/>
          </p:cNvSpPr>
          <p:nvPr>
            <p:ph type="title"/>
          </p:nvPr>
        </p:nvSpPr>
        <p:spPr>
          <a:xfrm>
            <a:off x="838200" y="365125"/>
            <a:ext cx="10515600" cy="421953"/>
          </a:xfrm>
        </p:spPr>
        <p:txBody>
          <a:bodyPr>
            <a:noAutofit/>
          </a:bodyPr>
          <a:lstStyle/>
          <a:p>
            <a:pPr algn="ctr"/>
            <a:r>
              <a:rPr lang="en-US" sz="2900" dirty="0">
                <a:latin typeface="Bernard MT Condensed" panose="02050806060905020404" pitchFamily="18" charset="0"/>
              </a:rPr>
              <a:t>Devices and Tools Used in Redco Project</a:t>
            </a:r>
          </a:p>
        </p:txBody>
      </p:sp>
      <p:sp>
        <p:nvSpPr>
          <p:cNvPr id="7" name="TextBox 6">
            <a:extLst>
              <a:ext uri="{FF2B5EF4-FFF2-40B4-BE49-F238E27FC236}">
                <a16:creationId xmlns:a16="http://schemas.microsoft.com/office/drawing/2014/main" id="{52F5503A-8289-7115-89D9-136D5E07C41D}"/>
              </a:ext>
            </a:extLst>
          </p:cNvPr>
          <p:cNvSpPr txBox="1"/>
          <p:nvPr/>
        </p:nvSpPr>
        <p:spPr>
          <a:xfrm>
            <a:off x="674225" y="943373"/>
            <a:ext cx="5668821" cy="5416868"/>
          </a:xfrm>
          <a:prstGeom prst="rect">
            <a:avLst/>
          </a:prstGeom>
          <a:noFill/>
        </p:spPr>
        <p:txBody>
          <a:bodyPr wrap="square">
            <a:spAutoFit/>
          </a:bodyPr>
          <a:lstStyle/>
          <a:p>
            <a:pPr>
              <a:buNone/>
            </a:pPr>
            <a:r>
              <a:rPr lang="en-US" sz="2000" b="1" u="sng" dirty="0">
                <a:latin typeface="Times New Roman" panose="02020603050405020304" pitchFamily="18" charset="0"/>
                <a:cs typeface="Times New Roman" panose="02020603050405020304" pitchFamily="18" charset="0"/>
              </a:rPr>
              <a:t>Network Devices:</a:t>
            </a:r>
          </a:p>
          <a:p>
            <a:pPr>
              <a:buNone/>
            </a:pPr>
            <a:endParaRPr lang="en-US" sz="2000" u="sng"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Cisco Routers</a:t>
            </a:r>
            <a:r>
              <a:rPr lang="en-US" dirty="0">
                <a:latin typeface="Times New Roman" panose="02020603050405020304" pitchFamily="18" charset="0"/>
                <a:cs typeface="Times New Roman" panose="02020603050405020304" pitchFamily="18" charset="0"/>
              </a:rPr>
              <a:t> – are used to connect the Kandy and Galle branches. This helps both offices share data safely.</a:t>
            </a: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Layer 3 Switches</a:t>
            </a:r>
            <a:r>
              <a:rPr lang="en-US" dirty="0">
                <a:latin typeface="Times New Roman" panose="02020603050405020304" pitchFamily="18" charset="0"/>
                <a:cs typeface="Times New Roman" panose="02020603050405020304" pitchFamily="18" charset="0"/>
              </a:rPr>
              <a:t> – is a network device used for inter-VLAN routing and core switching, and it can also send data between networks</a:t>
            </a: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Access Switches (Layer 2)</a:t>
            </a:r>
            <a:r>
              <a:rPr lang="en-US" dirty="0">
                <a:latin typeface="Times New Roman" panose="02020603050405020304" pitchFamily="18" charset="0"/>
                <a:cs typeface="Times New Roman" panose="02020603050405020304" pitchFamily="18" charset="0"/>
              </a:rPr>
              <a:t> – For connecting PCs, printers, devices to the Redco network (Cisco, 2024).</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5128" name="Picture 8">
            <a:extLst>
              <a:ext uri="{FF2B5EF4-FFF2-40B4-BE49-F238E27FC236}">
                <a16:creationId xmlns:a16="http://schemas.microsoft.com/office/drawing/2014/main" id="{04060106-F87D-9614-5DB9-863B8D5D4AB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3770"/>
          <a:stretch>
            <a:fillRect/>
          </a:stretch>
        </p:blipFill>
        <p:spPr bwMode="auto">
          <a:xfrm>
            <a:off x="6343046" y="1354121"/>
            <a:ext cx="4213309" cy="1389079"/>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a:extLst>
              <a:ext uri="{FF2B5EF4-FFF2-40B4-BE49-F238E27FC236}">
                <a16:creationId xmlns:a16="http://schemas.microsoft.com/office/drawing/2014/main" id="{E3021493-09C5-53E2-28C6-AF32AFAC2A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95480" y="3061704"/>
            <a:ext cx="2395761" cy="1733774"/>
          </a:xfrm>
          <a:prstGeom prst="rect">
            <a:avLst/>
          </a:prstGeom>
          <a:noFill/>
          <a:extLst>
            <a:ext uri="{909E8E84-426E-40DD-AFC4-6F175D3DCCD1}">
              <a14:hiddenFill xmlns:a14="http://schemas.microsoft.com/office/drawing/2010/main">
                <a:solidFill>
                  <a:srgbClr val="FFFFFF"/>
                </a:solidFill>
              </a14:hiddenFill>
            </a:ext>
          </a:extLst>
        </p:spPr>
      </p:pic>
      <p:pic>
        <p:nvPicPr>
          <p:cNvPr id="5132" name="Picture 12">
            <a:extLst>
              <a:ext uri="{FF2B5EF4-FFF2-40B4-BE49-F238E27FC236}">
                <a16:creationId xmlns:a16="http://schemas.microsoft.com/office/drawing/2014/main" id="{101973D8-47C9-8E6E-F4B4-DFFA0D6ABEA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31769" b="29283"/>
          <a:stretch>
            <a:fillRect/>
          </a:stretch>
        </p:blipFill>
        <p:spPr bwMode="auto">
          <a:xfrm>
            <a:off x="7095480" y="5113983"/>
            <a:ext cx="4027749" cy="1103008"/>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61442762-13DE-EB1F-FE05-1CB916D0DC2A}"/>
              </a:ext>
            </a:extLst>
          </p:cNvPr>
          <p:cNvSpPr>
            <a:spLocks noGrp="1"/>
          </p:cNvSpPr>
          <p:nvPr>
            <p:ph type="sldNum" sz="quarter" idx="12"/>
          </p:nvPr>
        </p:nvSpPr>
        <p:spPr/>
        <p:txBody>
          <a:bodyPr/>
          <a:lstStyle/>
          <a:p>
            <a:fld id="{54092646-63C8-4ED7-BF80-A13A2D7A34BD}" type="slidenum">
              <a:rPr lang="en-US" smtClean="0"/>
              <a:t>7</a:t>
            </a:fld>
            <a:endParaRPr lang="en-US"/>
          </a:p>
        </p:txBody>
      </p:sp>
    </p:spTree>
    <p:extLst>
      <p:ext uri="{BB962C8B-B14F-4D97-AF65-F5344CB8AC3E}">
        <p14:creationId xmlns:p14="http://schemas.microsoft.com/office/powerpoint/2010/main" val="26052159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C552FD-E6B2-65C3-30E2-E5E4822CDE5A}"/>
              </a:ext>
            </a:extLst>
          </p:cNvPr>
          <p:cNvSpPr txBox="1"/>
          <p:nvPr/>
        </p:nvSpPr>
        <p:spPr>
          <a:xfrm>
            <a:off x="651077" y="482069"/>
            <a:ext cx="6139626" cy="5909310"/>
          </a:xfrm>
          <a:prstGeom prst="rect">
            <a:avLst/>
          </a:prstGeom>
          <a:noFill/>
        </p:spPr>
        <p:txBody>
          <a:bodyPr wrap="square">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Cisco Access Points</a:t>
            </a:r>
            <a:r>
              <a:rPr lang="en-US" dirty="0">
                <a:latin typeface="Times New Roman" panose="02020603050405020304" pitchFamily="18" charset="0"/>
                <a:cs typeface="Times New Roman" panose="02020603050405020304" pitchFamily="18" charset="0"/>
              </a:rPr>
              <a:t> – </a:t>
            </a:r>
            <a:r>
              <a:rPr lang="en-US" dirty="0"/>
              <a:t>give Wi-Fi access in areas like the reception, boardroom, and customer service area. These are secured with Wi-Fi passwords.</a:t>
            </a: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Servers</a:t>
            </a:r>
            <a:r>
              <a:rPr lang="en-US" dirty="0">
                <a:latin typeface="Times New Roman" panose="02020603050405020304" pitchFamily="18" charset="0"/>
                <a:cs typeface="Times New Roman" panose="02020603050405020304" pitchFamily="18" charset="0"/>
              </a:rPr>
              <a:t> – Hosting DHCP, DNS, File, ERP, and Backup services</a:t>
            </a: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IP Cameras</a:t>
            </a:r>
            <a:r>
              <a:rPr lang="en-US" dirty="0">
                <a:latin typeface="Times New Roman" panose="02020603050405020304" pitchFamily="18" charset="0"/>
                <a:cs typeface="Times New Roman" panose="02020603050405020304" pitchFamily="18" charset="0"/>
              </a:rPr>
              <a:t> – are used for security purposes in Galle, as they can be viewed from anywhere in the network.</a:t>
            </a:r>
          </a:p>
        </p:txBody>
      </p:sp>
      <p:pic>
        <p:nvPicPr>
          <p:cNvPr id="6146" name="Picture 2">
            <a:extLst>
              <a:ext uri="{FF2B5EF4-FFF2-40B4-BE49-F238E27FC236}">
                <a16:creationId xmlns:a16="http://schemas.microsoft.com/office/drawing/2014/main" id="{D11FAD06-9424-0FEB-BAB9-F4593172CA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61875" y="133288"/>
            <a:ext cx="2084489" cy="1697448"/>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02F061BA-7568-A4FD-623B-3F6DB9BD68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024" y="2162627"/>
            <a:ext cx="2884671" cy="2369616"/>
          </a:xfrm>
          <a:prstGeom prst="rect">
            <a:avLst/>
          </a:prstGeom>
          <a:noFill/>
          <a:extLst>
            <a:ext uri="{909E8E84-426E-40DD-AFC4-6F175D3DCCD1}">
              <a14:hiddenFill xmlns:a14="http://schemas.microsoft.com/office/drawing/2010/main">
                <a:solidFill>
                  <a:srgbClr val="FFFFFF"/>
                </a:solidFill>
              </a14:hiddenFill>
            </a:ext>
          </a:extLst>
        </p:spPr>
      </p:pic>
      <p:pic>
        <p:nvPicPr>
          <p:cNvPr id="6154" name="Picture 10">
            <a:extLst>
              <a:ext uri="{FF2B5EF4-FFF2-40B4-BE49-F238E27FC236}">
                <a16:creationId xmlns:a16="http://schemas.microsoft.com/office/drawing/2014/main" id="{0992BBD5-E6A8-F799-E163-F923D18EB0A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2025" y="4811149"/>
            <a:ext cx="2102792" cy="191032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0D1551A2-6EE2-CA97-3710-1B6D24655F9B}"/>
              </a:ext>
            </a:extLst>
          </p:cNvPr>
          <p:cNvSpPr>
            <a:spLocks noGrp="1"/>
          </p:cNvSpPr>
          <p:nvPr>
            <p:ph type="sldNum" sz="quarter" idx="12"/>
          </p:nvPr>
        </p:nvSpPr>
        <p:spPr/>
        <p:txBody>
          <a:bodyPr/>
          <a:lstStyle/>
          <a:p>
            <a:fld id="{54092646-63C8-4ED7-BF80-A13A2D7A34BD}" type="slidenum">
              <a:rPr lang="en-US" smtClean="0"/>
              <a:t>8</a:t>
            </a:fld>
            <a:endParaRPr lang="en-US"/>
          </a:p>
        </p:txBody>
      </p:sp>
    </p:spTree>
    <p:extLst>
      <p:ext uri="{BB962C8B-B14F-4D97-AF65-F5344CB8AC3E}">
        <p14:creationId xmlns:p14="http://schemas.microsoft.com/office/powerpoint/2010/main" val="725983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F772D23-D9C1-1765-5D75-15CE67D91747}"/>
              </a:ext>
            </a:extLst>
          </p:cNvPr>
          <p:cNvSpPr txBox="1"/>
          <p:nvPr/>
        </p:nvSpPr>
        <p:spPr>
          <a:xfrm>
            <a:off x="593203" y="415015"/>
            <a:ext cx="4948178" cy="6801862"/>
          </a:xfrm>
          <a:prstGeom prst="rect">
            <a:avLst/>
          </a:prstGeom>
          <a:noFill/>
        </p:spPr>
        <p:txBody>
          <a:bodyPr wrap="square">
            <a:spAutoFit/>
          </a:bodyPr>
          <a:lstStyle/>
          <a:p>
            <a:pPr>
              <a:buNone/>
            </a:pPr>
            <a:r>
              <a:rPr lang="en-US" sz="2000" b="1" u="sng" dirty="0">
                <a:latin typeface="Times New Roman" panose="02020603050405020304" pitchFamily="18" charset="0"/>
                <a:cs typeface="Times New Roman" panose="02020603050405020304" pitchFamily="18" charset="0"/>
              </a:rPr>
              <a:t>Software Tools for Redco project:</a:t>
            </a:r>
          </a:p>
          <a:p>
            <a:pPr>
              <a:buNone/>
            </a:pPr>
            <a:endParaRPr lang="en-US" sz="2000" u="sng"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Cisco Packet Tracer</a:t>
            </a:r>
            <a:r>
              <a:rPr lang="en-US" dirty="0">
                <a:latin typeface="Times New Roman" panose="02020603050405020304" pitchFamily="18" charset="0"/>
                <a:cs typeface="Times New Roman" panose="02020603050405020304" pitchFamily="18" charset="0"/>
              </a:rPr>
              <a:t> – was the main simulation tool used for Network design and testing,</a:t>
            </a: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BD5FD5E6-ADEC-662A-2008-E224F12580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784037"/>
            <a:ext cx="4599779" cy="4950690"/>
          </a:xfrm>
          <a:prstGeom prst="rect">
            <a:avLst/>
          </a:prstGeom>
        </p:spPr>
      </p:pic>
      <p:sp>
        <p:nvSpPr>
          <p:cNvPr id="9" name="TextBox 8">
            <a:extLst>
              <a:ext uri="{FF2B5EF4-FFF2-40B4-BE49-F238E27FC236}">
                <a16:creationId xmlns:a16="http://schemas.microsoft.com/office/drawing/2014/main" id="{BACFEDF9-E8FB-5956-094F-AD49A8AE857F}"/>
              </a:ext>
            </a:extLst>
          </p:cNvPr>
          <p:cNvSpPr txBox="1"/>
          <p:nvPr/>
        </p:nvSpPr>
        <p:spPr>
          <a:xfrm>
            <a:off x="6097930" y="1038499"/>
            <a:ext cx="6094070" cy="646331"/>
          </a:xfrm>
          <a:prstGeom prst="rect">
            <a:avLst/>
          </a:prstGeom>
          <a:noFill/>
        </p:spPr>
        <p:txBody>
          <a:bodyPr wrap="square">
            <a:spAutoFit/>
          </a:bodyPr>
          <a:lstStyle/>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Microsoft Visio</a:t>
            </a:r>
            <a:r>
              <a:rPr lang="en-US" dirty="0">
                <a:latin typeface="Times New Roman" panose="02020603050405020304" pitchFamily="18" charset="0"/>
                <a:cs typeface="Times New Roman" panose="02020603050405020304" pitchFamily="18" charset="0"/>
              </a:rPr>
              <a:t> – was used to draw the full network design clearly</a:t>
            </a:r>
          </a:p>
        </p:txBody>
      </p:sp>
      <p:pic>
        <p:nvPicPr>
          <p:cNvPr id="11" name="Picture 10">
            <a:extLst>
              <a:ext uri="{FF2B5EF4-FFF2-40B4-BE49-F238E27FC236}">
                <a16:creationId xmlns:a16="http://schemas.microsoft.com/office/drawing/2014/main" id="{EDF4083B-A1B6-6115-A864-E39F685FD3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770785"/>
            <a:ext cx="5918521" cy="4864735"/>
          </a:xfrm>
          <a:prstGeom prst="rect">
            <a:avLst/>
          </a:prstGeom>
        </p:spPr>
      </p:pic>
      <p:sp>
        <p:nvSpPr>
          <p:cNvPr id="4" name="Slide Number Placeholder 3">
            <a:extLst>
              <a:ext uri="{FF2B5EF4-FFF2-40B4-BE49-F238E27FC236}">
                <a16:creationId xmlns:a16="http://schemas.microsoft.com/office/drawing/2014/main" id="{69192AA6-F60B-7E80-26F9-E3A4F50F2F43}"/>
              </a:ext>
            </a:extLst>
          </p:cNvPr>
          <p:cNvSpPr>
            <a:spLocks noGrp="1"/>
          </p:cNvSpPr>
          <p:nvPr>
            <p:ph type="sldNum" sz="quarter" idx="12"/>
          </p:nvPr>
        </p:nvSpPr>
        <p:spPr/>
        <p:txBody>
          <a:bodyPr/>
          <a:lstStyle/>
          <a:p>
            <a:fld id="{54092646-63C8-4ED7-BF80-A13A2D7A34BD}" type="slidenum">
              <a:rPr lang="en-US" smtClean="0"/>
              <a:t>9</a:t>
            </a:fld>
            <a:endParaRPr lang="en-US"/>
          </a:p>
        </p:txBody>
      </p:sp>
    </p:spTree>
    <p:extLst>
      <p:ext uri="{BB962C8B-B14F-4D97-AF65-F5344CB8AC3E}">
        <p14:creationId xmlns:p14="http://schemas.microsoft.com/office/powerpoint/2010/main" val="3307411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F891C84-0DFD-DEC2-4071-44330BF70104}"/>
              </a:ext>
            </a:extLst>
          </p:cNvPr>
          <p:cNvSpPr txBox="1"/>
          <p:nvPr/>
        </p:nvSpPr>
        <p:spPr>
          <a:xfrm>
            <a:off x="153365" y="122239"/>
            <a:ext cx="6094070" cy="3970318"/>
          </a:xfrm>
          <a:prstGeom prst="rect">
            <a:avLst/>
          </a:prstGeom>
          <a:noFill/>
        </p:spPr>
        <p:txBody>
          <a:bodyPr wrap="square">
            <a:spAutoFit/>
          </a:bodyPr>
          <a:lstStyle/>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Wireshark</a:t>
            </a:r>
            <a:r>
              <a:rPr lang="en-US" dirty="0">
                <a:latin typeface="Times New Roman" panose="02020603050405020304" pitchFamily="18" charset="0"/>
                <a:cs typeface="Times New Roman" panose="02020603050405020304" pitchFamily="18" charset="0"/>
              </a:rPr>
              <a:t> – was used for analyzing network traffic troubleshooting them, and check data packets</a:t>
            </a: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Windows Server 2012</a:t>
            </a:r>
            <a:r>
              <a:rPr lang="en-US" dirty="0">
                <a:latin typeface="Times New Roman" panose="02020603050405020304" pitchFamily="18" charset="0"/>
                <a:cs typeface="Times New Roman" panose="02020603050405020304" pitchFamily="18" charset="0"/>
              </a:rPr>
              <a:t> – was used to manage users, and helps control the whole network from one place</a:t>
            </a:r>
          </a:p>
        </p:txBody>
      </p:sp>
      <p:pic>
        <p:nvPicPr>
          <p:cNvPr id="7170" name="Picture 2">
            <a:extLst>
              <a:ext uri="{FF2B5EF4-FFF2-40B4-BE49-F238E27FC236}">
                <a16:creationId xmlns:a16="http://schemas.microsoft.com/office/drawing/2014/main" id="{8AB2CEEE-D99A-8C39-427E-34165BE4FE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196" y="765719"/>
            <a:ext cx="4759797" cy="251754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A4DAE0EF-F528-27EE-1D38-3044B67550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57035" y="1133869"/>
            <a:ext cx="4572000" cy="3429000"/>
          </a:xfrm>
          <a:prstGeom prst="rect">
            <a:avLst/>
          </a:prstGeom>
        </p:spPr>
      </p:pic>
      <p:sp>
        <p:nvSpPr>
          <p:cNvPr id="9" name="TextBox 8">
            <a:extLst>
              <a:ext uri="{FF2B5EF4-FFF2-40B4-BE49-F238E27FC236}">
                <a16:creationId xmlns:a16="http://schemas.microsoft.com/office/drawing/2014/main" id="{64726908-6EE7-0697-133B-30872C612A95}"/>
              </a:ext>
            </a:extLst>
          </p:cNvPr>
          <p:cNvSpPr txBox="1"/>
          <p:nvPr/>
        </p:nvSpPr>
        <p:spPr>
          <a:xfrm>
            <a:off x="5944565" y="166389"/>
            <a:ext cx="6094070" cy="923330"/>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 VirtualBox</a:t>
            </a:r>
            <a:r>
              <a:rPr lang="en-US" dirty="0">
                <a:latin typeface="Times New Roman" panose="02020603050405020304" pitchFamily="18" charset="0"/>
                <a:cs typeface="Times New Roman" panose="02020603050405020304" pitchFamily="18" charset="0"/>
              </a:rPr>
              <a:t> – was used for server roles like DHCP and DNS, and </a:t>
            </a:r>
            <a:r>
              <a:rPr lang="en-US" dirty="0"/>
              <a:t>test how servers work, gives IP addresses and manages the network</a:t>
            </a:r>
            <a:endParaRPr lang="en-US"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55F4F195-0FCE-97C6-6A82-F5D20A98A86C}"/>
              </a:ext>
            </a:extLst>
          </p:cNvPr>
          <p:cNvPicPr>
            <a:picLocks noChangeAspect="1"/>
          </p:cNvPicPr>
          <p:nvPr/>
        </p:nvPicPr>
        <p:blipFill>
          <a:blip r:embed="rId5">
            <a:extLst>
              <a:ext uri="{28A0092B-C50C-407E-A947-70E740481C1C}">
                <a14:useLocalDpi xmlns:a14="http://schemas.microsoft.com/office/drawing/2010/main" val="0"/>
              </a:ext>
            </a:extLst>
          </a:blip>
          <a:srcRect l="17257" t="17215" r="17047" b="17638"/>
          <a:stretch>
            <a:fillRect/>
          </a:stretch>
        </p:blipFill>
        <p:spPr>
          <a:xfrm>
            <a:off x="2453640" y="4092557"/>
            <a:ext cx="3490925" cy="2596333"/>
          </a:xfrm>
          <a:prstGeom prst="rect">
            <a:avLst/>
          </a:prstGeom>
        </p:spPr>
      </p:pic>
      <p:sp>
        <p:nvSpPr>
          <p:cNvPr id="4" name="Slide Number Placeholder 3">
            <a:extLst>
              <a:ext uri="{FF2B5EF4-FFF2-40B4-BE49-F238E27FC236}">
                <a16:creationId xmlns:a16="http://schemas.microsoft.com/office/drawing/2014/main" id="{78639C13-E5AF-C751-46D8-0C8EF8BB8DA6}"/>
              </a:ext>
            </a:extLst>
          </p:cNvPr>
          <p:cNvSpPr>
            <a:spLocks noGrp="1"/>
          </p:cNvSpPr>
          <p:nvPr>
            <p:ph type="sldNum" sz="quarter" idx="12"/>
          </p:nvPr>
        </p:nvSpPr>
        <p:spPr/>
        <p:txBody>
          <a:bodyPr/>
          <a:lstStyle/>
          <a:p>
            <a:fld id="{54092646-63C8-4ED7-BF80-A13A2D7A34BD}" type="slidenum">
              <a:rPr lang="en-US" smtClean="0">
                <a:solidFill>
                  <a:schemeClr val="tx1"/>
                </a:solidFill>
              </a:rPr>
              <a:t>10</a:t>
            </a:fld>
            <a:endParaRPr lang="en-US">
              <a:solidFill>
                <a:schemeClr val="tx1"/>
              </a:solidFill>
            </a:endParaRPr>
          </a:p>
        </p:txBody>
      </p:sp>
    </p:spTree>
    <p:extLst>
      <p:ext uri="{BB962C8B-B14F-4D97-AF65-F5344CB8AC3E}">
        <p14:creationId xmlns:p14="http://schemas.microsoft.com/office/powerpoint/2010/main" val="1020930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58BBDE3-F3EE-AB77-263F-13C3EE469B34}"/>
              </a:ext>
            </a:extLst>
          </p:cNvPr>
          <p:cNvSpPr txBox="1">
            <a:spLocks/>
          </p:cNvSpPr>
          <p:nvPr/>
        </p:nvSpPr>
        <p:spPr>
          <a:xfrm>
            <a:off x="838200" y="365125"/>
            <a:ext cx="10515600" cy="42195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900" dirty="0">
                <a:latin typeface="Bernard MT Condensed" panose="02050806060905020404" pitchFamily="18" charset="0"/>
              </a:rPr>
              <a:t>Security &amp; Access Technologies in Redco’s Network</a:t>
            </a:r>
          </a:p>
        </p:txBody>
      </p:sp>
      <p:sp>
        <p:nvSpPr>
          <p:cNvPr id="10" name="TextBox 9">
            <a:extLst>
              <a:ext uri="{FF2B5EF4-FFF2-40B4-BE49-F238E27FC236}">
                <a16:creationId xmlns:a16="http://schemas.microsoft.com/office/drawing/2014/main" id="{EB6161F6-35D6-CE21-EEB6-BA81356ACFE5}"/>
              </a:ext>
            </a:extLst>
          </p:cNvPr>
          <p:cNvSpPr txBox="1"/>
          <p:nvPr/>
        </p:nvSpPr>
        <p:spPr>
          <a:xfrm>
            <a:off x="1346969" y="995573"/>
            <a:ext cx="5747795" cy="5909310"/>
          </a:xfrm>
          <a:prstGeom prst="rect">
            <a:avLst/>
          </a:prstGeom>
          <a:noFill/>
        </p:spPr>
        <p:txBody>
          <a:bodyPr wrap="square">
            <a:spAutoFit/>
          </a:bodyPr>
          <a:lstStyle/>
          <a:p>
            <a:pPr>
              <a:buFont typeface="Arial" panose="020B0604020202020204" pitchFamily="34" charset="0"/>
              <a:buChar char="•"/>
            </a:pPr>
            <a:r>
              <a:rPr lang="en-US" b="1" dirty="0"/>
              <a:t>Firewall</a:t>
            </a:r>
            <a:r>
              <a:rPr lang="en-US" dirty="0"/>
              <a:t> – Protects the network from unauthorized access</a:t>
            </a:r>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endParaRPr lang="en-US" dirty="0"/>
          </a:p>
          <a:p>
            <a:endParaRPr lang="en-US" dirty="0"/>
          </a:p>
          <a:p>
            <a:pPr>
              <a:buFont typeface="Arial" panose="020B0604020202020204" pitchFamily="34" charset="0"/>
              <a:buChar char="•"/>
            </a:pPr>
            <a:r>
              <a:rPr lang="en-US" b="1" dirty="0"/>
              <a:t>DMZ (Demilitarized Zone)</a:t>
            </a:r>
            <a:r>
              <a:rPr lang="en-US" dirty="0"/>
              <a:t> – A DMZ is a small part of the network that protects the main network from outside threats</a:t>
            </a:r>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endParaRPr lang="en-US" dirty="0"/>
          </a:p>
          <a:p>
            <a:endParaRPr lang="en-US" dirty="0"/>
          </a:p>
          <a:p>
            <a:endParaRPr lang="en-US" dirty="0"/>
          </a:p>
          <a:p>
            <a:endParaRPr lang="en-US" dirty="0"/>
          </a:p>
          <a:p>
            <a:endParaRPr lang="en-US" dirty="0"/>
          </a:p>
        </p:txBody>
      </p:sp>
      <p:pic>
        <p:nvPicPr>
          <p:cNvPr id="8194" name="Picture 2">
            <a:extLst>
              <a:ext uri="{FF2B5EF4-FFF2-40B4-BE49-F238E27FC236}">
                <a16:creationId xmlns:a16="http://schemas.microsoft.com/office/drawing/2014/main" id="{6324E292-85FB-8B84-68CA-C685142269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0039" y="1407725"/>
            <a:ext cx="2718605" cy="2265504"/>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C247109B-ED6B-B6EC-51C9-C45A96A95B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6969" y="4680420"/>
            <a:ext cx="5053831" cy="196467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3D3D37DC-DDC0-4AE3-89A2-2B60E57143AB}"/>
              </a:ext>
            </a:extLst>
          </p:cNvPr>
          <p:cNvSpPr txBox="1"/>
          <p:nvPr/>
        </p:nvSpPr>
        <p:spPr>
          <a:xfrm>
            <a:off x="7291449" y="995573"/>
            <a:ext cx="4364258" cy="1200329"/>
          </a:xfrm>
          <a:prstGeom prst="rect">
            <a:avLst/>
          </a:prstGeom>
          <a:noFill/>
        </p:spPr>
        <p:txBody>
          <a:bodyPr wrap="square">
            <a:spAutoFit/>
          </a:bodyPr>
          <a:lstStyle/>
          <a:p>
            <a:pPr>
              <a:buFont typeface="Arial" panose="020B0604020202020204" pitchFamily="34" charset="0"/>
              <a:buChar char="•"/>
            </a:pPr>
            <a:r>
              <a:rPr lang="en-US" b="1" dirty="0"/>
              <a:t>VPN (Virtual Private Network)</a:t>
            </a:r>
            <a:r>
              <a:rPr lang="en-US" dirty="0"/>
              <a:t> – Enables secure remote access connection that lets employees safely access the Redco’s network from home.</a:t>
            </a:r>
          </a:p>
        </p:txBody>
      </p:sp>
      <p:pic>
        <p:nvPicPr>
          <p:cNvPr id="8198" name="Picture 6">
            <a:extLst>
              <a:ext uri="{FF2B5EF4-FFF2-40B4-BE49-F238E27FC236}">
                <a16:creationId xmlns:a16="http://schemas.microsoft.com/office/drawing/2014/main" id="{4D47C9C2-59B2-3DD1-B8F1-CF40F39F2C0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84214" y="2404397"/>
            <a:ext cx="3864702" cy="2177581"/>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1345B31B-6B4B-CCE9-8003-DBC5E3C85363}"/>
              </a:ext>
            </a:extLst>
          </p:cNvPr>
          <p:cNvSpPr>
            <a:spLocks noGrp="1"/>
          </p:cNvSpPr>
          <p:nvPr>
            <p:ph type="sldNum" sz="quarter" idx="12"/>
          </p:nvPr>
        </p:nvSpPr>
        <p:spPr/>
        <p:txBody>
          <a:bodyPr/>
          <a:lstStyle/>
          <a:p>
            <a:fld id="{54092646-63C8-4ED7-BF80-A13A2D7A34BD}" type="slidenum">
              <a:rPr lang="en-US" smtClean="0">
                <a:solidFill>
                  <a:schemeClr val="tx1"/>
                </a:solidFill>
              </a:rPr>
              <a:t>11</a:t>
            </a:fld>
            <a:endParaRPr lang="en-US" dirty="0">
              <a:solidFill>
                <a:schemeClr val="tx1"/>
              </a:solidFill>
            </a:endParaRPr>
          </a:p>
        </p:txBody>
      </p:sp>
    </p:spTree>
    <p:extLst>
      <p:ext uri="{BB962C8B-B14F-4D97-AF65-F5344CB8AC3E}">
        <p14:creationId xmlns:p14="http://schemas.microsoft.com/office/powerpoint/2010/main" val="6070042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2446E0D-D138-0439-0172-628BE9FA4656}"/>
              </a:ext>
            </a:extLst>
          </p:cNvPr>
          <p:cNvSpPr>
            <a:spLocks noGrp="1"/>
          </p:cNvSpPr>
          <p:nvPr>
            <p:ph type="title"/>
          </p:nvPr>
        </p:nvSpPr>
        <p:spPr>
          <a:xfrm>
            <a:off x="1315233" y="742893"/>
            <a:ext cx="9561534" cy="171507"/>
          </a:xfrm>
          <a:noFill/>
        </p:spPr>
        <p:txBody>
          <a:bodyPr anchor="ctr">
            <a:normAutofit fontScale="90000"/>
          </a:bodyPr>
          <a:lstStyle/>
          <a:p>
            <a:pPr algn="ctr"/>
            <a:br>
              <a:rPr lang="en-US" sz="3200" dirty="0">
                <a:latin typeface="Bernard MT Condensed" panose="02050806060905020404" pitchFamily="18" charset="0"/>
              </a:rPr>
            </a:br>
            <a:br>
              <a:rPr lang="en-US" sz="3200" dirty="0">
                <a:latin typeface="Bernard MT Condensed" panose="02050806060905020404" pitchFamily="18" charset="0"/>
              </a:rPr>
            </a:br>
            <a:r>
              <a:rPr lang="en-US" sz="3200" dirty="0">
                <a:latin typeface="Bernard MT Condensed" panose="02050806060905020404" pitchFamily="18" charset="0"/>
              </a:rPr>
              <a:t>Network Blueprint of Redco developments</a:t>
            </a:r>
            <a:br>
              <a:rPr lang="en-US" sz="3200" dirty="0">
                <a:latin typeface="Bernard MT Condensed" panose="02050806060905020404" pitchFamily="18" charset="0"/>
              </a:rPr>
            </a:br>
            <a:br>
              <a:rPr lang="en-US" sz="3200" dirty="0">
                <a:latin typeface="Bernard MT Condensed" panose="02050806060905020404" pitchFamily="18" charset="0"/>
              </a:rPr>
            </a:br>
            <a:br>
              <a:rPr lang="en-US" sz="3200" dirty="0">
                <a:latin typeface="Bernard MT Condensed" panose="02050806060905020404" pitchFamily="18" charset="0"/>
              </a:rPr>
            </a:br>
            <a:br>
              <a:rPr lang="en-US" sz="3200" dirty="0">
                <a:latin typeface="Bernard MT Condensed" panose="02050806060905020404" pitchFamily="18" charset="0"/>
              </a:rPr>
            </a:br>
            <a:endParaRPr lang="en-US" dirty="0">
              <a:latin typeface="Bernard MT Condensed" panose="02050806060905020404" pitchFamily="18" charset="0"/>
            </a:endParaRPr>
          </a:p>
        </p:txBody>
      </p:sp>
      <p:pic>
        <p:nvPicPr>
          <p:cNvPr id="7" name="Picture 2">
            <a:extLst>
              <a:ext uri="{FF2B5EF4-FFF2-40B4-BE49-F238E27FC236}">
                <a16:creationId xmlns:a16="http://schemas.microsoft.com/office/drawing/2014/main" id="{E4FCC393-93C8-07D9-9AC0-2B2F8C9071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7993" y="860425"/>
            <a:ext cx="6743700" cy="554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6AA49B6A-E5E7-4B7C-BC84-1B82FEDDF35B}"/>
              </a:ext>
            </a:extLst>
          </p:cNvPr>
          <p:cNvSpPr>
            <a:spLocks noGrp="1"/>
          </p:cNvSpPr>
          <p:nvPr>
            <p:ph type="sldNum" sz="quarter" idx="12"/>
          </p:nvPr>
        </p:nvSpPr>
        <p:spPr/>
        <p:txBody>
          <a:bodyPr/>
          <a:lstStyle/>
          <a:p>
            <a:fld id="{54092646-63C8-4ED7-BF80-A13A2D7A34BD}" type="slidenum">
              <a:rPr lang="en-US" smtClean="0">
                <a:solidFill>
                  <a:schemeClr val="tx1"/>
                </a:solidFill>
              </a:rPr>
              <a:t>12</a:t>
            </a:fld>
            <a:endParaRPr lang="en-US" dirty="0">
              <a:solidFill>
                <a:schemeClr val="tx1"/>
              </a:solidFill>
            </a:endParaRPr>
          </a:p>
        </p:txBody>
      </p:sp>
      <p:sp>
        <p:nvSpPr>
          <p:cNvPr id="3" name="TextBox 2">
            <a:extLst>
              <a:ext uri="{FF2B5EF4-FFF2-40B4-BE49-F238E27FC236}">
                <a16:creationId xmlns:a16="http://schemas.microsoft.com/office/drawing/2014/main" id="{FCCBBB48-10EE-B450-AD15-8F221A5839B7}"/>
              </a:ext>
            </a:extLst>
          </p:cNvPr>
          <p:cNvSpPr txBox="1"/>
          <p:nvPr/>
        </p:nvSpPr>
        <p:spPr>
          <a:xfrm>
            <a:off x="630307" y="1350499"/>
            <a:ext cx="3578087" cy="3970318"/>
          </a:xfrm>
          <a:prstGeom prst="rect">
            <a:avLst/>
          </a:prstGeom>
          <a:noFill/>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network diagram was made using Microsoft Visio.</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shows how the Kandy and Galle branch are linked using a WAN.</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includes: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Routers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Switches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PCs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Servers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Access points.</a:t>
            </a:r>
            <a:br>
              <a:rPr lang="en-US" dirty="0"/>
            </a:br>
            <a:endParaRPr lang="en-US" dirty="0"/>
          </a:p>
        </p:txBody>
      </p:sp>
    </p:spTree>
    <p:extLst>
      <p:ext uri="{BB962C8B-B14F-4D97-AF65-F5344CB8AC3E}">
        <p14:creationId xmlns:p14="http://schemas.microsoft.com/office/powerpoint/2010/main" val="31947787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1">
            <a:extLst>
              <a:ext uri="{FF2B5EF4-FFF2-40B4-BE49-F238E27FC236}">
                <a16:creationId xmlns:a16="http://schemas.microsoft.com/office/drawing/2014/main" id="{83D343BC-6101-ACED-944C-1EDC4DBB7D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7112" y="652668"/>
            <a:ext cx="8173206" cy="6201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67DFD30B-7BCF-E886-37F3-5CE8CB10D5BE}"/>
              </a:ext>
            </a:extLst>
          </p:cNvPr>
          <p:cNvSpPr txBox="1"/>
          <p:nvPr/>
        </p:nvSpPr>
        <p:spPr>
          <a:xfrm>
            <a:off x="3350757" y="114059"/>
            <a:ext cx="5305289" cy="538609"/>
          </a:xfrm>
          <a:prstGeom prst="rect">
            <a:avLst/>
          </a:prstGeom>
          <a:noFill/>
        </p:spPr>
        <p:txBody>
          <a:bodyPr wrap="square">
            <a:spAutoFit/>
          </a:bodyPr>
          <a:lstStyle/>
          <a:p>
            <a:pPr>
              <a:buNone/>
            </a:pPr>
            <a:r>
              <a:rPr lang="en-US" sz="2900" dirty="0">
                <a:latin typeface="Bernard MT Condensed" panose="02050806060905020404" pitchFamily="18" charset="0"/>
              </a:rPr>
              <a:t>Cisco Packet Tracer Implementation</a:t>
            </a:r>
          </a:p>
        </p:txBody>
      </p:sp>
      <p:sp>
        <p:nvSpPr>
          <p:cNvPr id="4" name="Slide Number Placeholder 3">
            <a:extLst>
              <a:ext uri="{FF2B5EF4-FFF2-40B4-BE49-F238E27FC236}">
                <a16:creationId xmlns:a16="http://schemas.microsoft.com/office/drawing/2014/main" id="{5CCD0B10-41E4-3203-4298-D25137986D9C}"/>
              </a:ext>
            </a:extLst>
          </p:cNvPr>
          <p:cNvSpPr>
            <a:spLocks noGrp="1"/>
          </p:cNvSpPr>
          <p:nvPr>
            <p:ph type="sldNum" sz="quarter" idx="12"/>
          </p:nvPr>
        </p:nvSpPr>
        <p:spPr/>
        <p:txBody>
          <a:bodyPr/>
          <a:lstStyle/>
          <a:p>
            <a:fld id="{54092646-63C8-4ED7-BF80-A13A2D7A34BD}" type="slidenum">
              <a:rPr lang="en-US" smtClean="0">
                <a:solidFill>
                  <a:schemeClr val="tx1"/>
                </a:solidFill>
              </a:rPr>
              <a:t>13</a:t>
            </a:fld>
            <a:endParaRPr lang="en-US" dirty="0">
              <a:solidFill>
                <a:schemeClr val="tx1"/>
              </a:solidFill>
            </a:endParaRPr>
          </a:p>
        </p:txBody>
      </p:sp>
      <p:sp>
        <p:nvSpPr>
          <p:cNvPr id="2" name="Rectangle 1">
            <a:extLst>
              <a:ext uri="{FF2B5EF4-FFF2-40B4-BE49-F238E27FC236}">
                <a16:creationId xmlns:a16="http://schemas.microsoft.com/office/drawing/2014/main" id="{649F9A96-1CF3-25EE-7D61-3C4E0D6225D6}"/>
              </a:ext>
            </a:extLst>
          </p:cNvPr>
          <p:cNvSpPr>
            <a:spLocks noChangeArrowheads="1"/>
          </p:cNvSpPr>
          <p:nvPr/>
        </p:nvSpPr>
        <p:spPr bwMode="auto">
          <a:xfrm>
            <a:off x="343718" y="1657849"/>
            <a:ext cx="3380144"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Cisco Packet Tracer </a:t>
            </a:r>
            <a:r>
              <a:rPr lang="en-US" altLang="en-US" dirty="0">
                <a:latin typeface="Times New Roman" panose="02020603050405020304" pitchFamily="18" charset="0"/>
                <a:cs typeface="Times New Roman" panose="02020603050405020304" pitchFamily="18" charset="0"/>
              </a:rPr>
              <a:t>was used to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build a full network simulation for Redco.</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includes both Kandy and Galle, connected with routers.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lang="en-US" altLang="en-US" dirty="0">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Wireless access points was used for mobile devi</a:t>
            </a:r>
            <a:r>
              <a:rPr lang="en-US" altLang="en-US" dirty="0">
                <a:latin typeface="Times New Roman" panose="02020603050405020304" pitchFamily="18" charset="0"/>
                <a:cs typeface="Times New Roman" panose="02020603050405020304" pitchFamily="18" charset="0"/>
              </a:rPr>
              <a:t>ces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Network was tested using ping and traceroute to make sure everything works well.</a:t>
            </a:r>
          </a:p>
        </p:txBody>
      </p:sp>
    </p:spTree>
    <p:extLst>
      <p:ext uri="{BB962C8B-B14F-4D97-AF65-F5344CB8AC3E}">
        <p14:creationId xmlns:p14="http://schemas.microsoft.com/office/powerpoint/2010/main" val="24395495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712B01-A480-C801-CD43-F52B2337CB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0091" y="2471131"/>
            <a:ext cx="5786862" cy="3625611"/>
          </a:xfrm>
          <a:prstGeom prst="rect">
            <a:avLst/>
          </a:prstGeom>
        </p:spPr>
      </p:pic>
      <p:pic>
        <p:nvPicPr>
          <p:cNvPr id="7" name="Picture 6">
            <a:extLst>
              <a:ext uri="{FF2B5EF4-FFF2-40B4-BE49-F238E27FC236}">
                <a16:creationId xmlns:a16="http://schemas.microsoft.com/office/drawing/2014/main" id="{3B27B619-83DC-30A6-7E1B-834E77E382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51897" y="2471132"/>
            <a:ext cx="5091057" cy="3654650"/>
          </a:xfrm>
          <a:prstGeom prst="rect">
            <a:avLst/>
          </a:prstGeom>
        </p:spPr>
      </p:pic>
      <p:sp>
        <p:nvSpPr>
          <p:cNvPr id="13" name="TextBox 12">
            <a:extLst>
              <a:ext uri="{FF2B5EF4-FFF2-40B4-BE49-F238E27FC236}">
                <a16:creationId xmlns:a16="http://schemas.microsoft.com/office/drawing/2014/main" id="{F60DF45D-234E-C7B9-5075-D1FD2A6F9F5E}"/>
              </a:ext>
            </a:extLst>
          </p:cNvPr>
          <p:cNvSpPr txBox="1"/>
          <p:nvPr/>
        </p:nvSpPr>
        <p:spPr>
          <a:xfrm>
            <a:off x="4715882" y="74252"/>
            <a:ext cx="2502049" cy="538609"/>
          </a:xfrm>
          <a:prstGeom prst="rect">
            <a:avLst/>
          </a:prstGeom>
          <a:noFill/>
        </p:spPr>
        <p:txBody>
          <a:bodyPr wrap="square">
            <a:spAutoFit/>
          </a:bodyPr>
          <a:lstStyle/>
          <a:p>
            <a:r>
              <a:rPr lang="en-US" sz="2900" dirty="0">
                <a:latin typeface="Bernard MT Condensed" panose="02050806060905020404" pitchFamily="18" charset="0"/>
              </a:rPr>
              <a:t>IP Ping Testing</a:t>
            </a:r>
          </a:p>
        </p:txBody>
      </p:sp>
      <p:sp>
        <p:nvSpPr>
          <p:cNvPr id="15" name="TextBox 14">
            <a:extLst>
              <a:ext uri="{FF2B5EF4-FFF2-40B4-BE49-F238E27FC236}">
                <a16:creationId xmlns:a16="http://schemas.microsoft.com/office/drawing/2014/main" id="{CBE6BA20-D29E-1C9A-F9E9-12FF77573325}"/>
              </a:ext>
            </a:extLst>
          </p:cNvPr>
          <p:cNvSpPr txBox="1"/>
          <p:nvPr/>
        </p:nvSpPr>
        <p:spPr>
          <a:xfrm>
            <a:off x="510092" y="761257"/>
            <a:ext cx="7560482" cy="1261884"/>
          </a:xfrm>
          <a:prstGeom prst="rect">
            <a:avLst/>
          </a:prstGeom>
          <a:noFill/>
        </p:spPr>
        <p:txBody>
          <a:bodyPr wrap="square">
            <a:spAutoFit/>
          </a:bodyPr>
          <a:lstStyle/>
          <a:p>
            <a:r>
              <a:rPr lang="en-US" sz="2000" b="1" u="sng" dirty="0">
                <a:latin typeface="Times New Roman" panose="02020603050405020304" pitchFamily="18" charset="0"/>
                <a:cs typeface="Times New Roman" panose="02020603050405020304" pitchFamily="18" charset="0"/>
              </a:rPr>
              <a:t>What are Ping tests?</a:t>
            </a:r>
          </a:p>
          <a:p>
            <a:endParaRPr lang="en-US" sz="2000" b="1" u="sng"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Ping tests are used to check if devices in the network can communicate with each other using their IP addresses </a:t>
            </a:r>
            <a:r>
              <a:rPr lang="en-US" dirty="0"/>
              <a:t>(Network Encyclopedia, 2024).</a:t>
            </a:r>
            <a:endParaRPr lang="en-US" dirty="0">
              <a:latin typeface="Times New Roman" panose="02020603050405020304" pitchFamily="18" charset="0"/>
              <a:cs typeface="Times New Roman" panose="02020603050405020304" pitchFamily="18" charset="0"/>
            </a:endParaRPr>
          </a:p>
        </p:txBody>
      </p:sp>
      <p:sp>
        <p:nvSpPr>
          <p:cNvPr id="18" name="Slide Number Placeholder 17">
            <a:extLst>
              <a:ext uri="{FF2B5EF4-FFF2-40B4-BE49-F238E27FC236}">
                <a16:creationId xmlns:a16="http://schemas.microsoft.com/office/drawing/2014/main" id="{5949D358-5948-CF39-6007-75D5C9A5A9B8}"/>
              </a:ext>
            </a:extLst>
          </p:cNvPr>
          <p:cNvSpPr>
            <a:spLocks noGrp="1"/>
          </p:cNvSpPr>
          <p:nvPr>
            <p:ph type="sldNum" sz="quarter" idx="12"/>
          </p:nvPr>
        </p:nvSpPr>
        <p:spPr/>
        <p:txBody>
          <a:bodyPr/>
          <a:lstStyle/>
          <a:p>
            <a:fld id="{54092646-63C8-4ED7-BF80-A13A2D7A34BD}" type="slidenum">
              <a:rPr lang="en-US" smtClean="0">
                <a:solidFill>
                  <a:schemeClr val="tx1"/>
                </a:solidFill>
              </a:rPr>
              <a:t>14</a:t>
            </a:fld>
            <a:endParaRPr lang="en-US" dirty="0">
              <a:solidFill>
                <a:schemeClr val="tx1"/>
              </a:solidFill>
            </a:endParaRPr>
          </a:p>
        </p:txBody>
      </p:sp>
    </p:spTree>
    <p:extLst>
      <p:ext uri="{BB962C8B-B14F-4D97-AF65-F5344CB8AC3E}">
        <p14:creationId xmlns:p14="http://schemas.microsoft.com/office/powerpoint/2010/main" val="31797014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89E6822-0758-A84F-2F18-E4CB2D0836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626" y="1944808"/>
            <a:ext cx="5630374" cy="3750450"/>
          </a:xfrm>
          <a:prstGeom prst="rect">
            <a:avLst/>
          </a:prstGeom>
        </p:spPr>
      </p:pic>
      <p:pic>
        <p:nvPicPr>
          <p:cNvPr id="6" name="Picture 5">
            <a:extLst>
              <a:ext uri="{FF2B5EF4-FFF2-40B4-BE49-F238E27FC236}">
                <a16:creationId xmlns:a16="http://schemas.microsoft.com/office/drawing/2014/main" id="{2BBEB64F-4537-A50D-DF22-161815FE1D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4146" y="1944808"/>
            <a:ext cx="5506218" cy="3810532"/>
          </a:xfrm>
          <a:prstGeom prst="rect">
            <a:avLst/>
          </a:prstGeom>
        </p:spPr>
      </p:pic>
      <p:sp>
        <p:nvSpPr>
          <p:cNvPr id="12" name="Rectangle 2">
            <a:extLst>
              <a:ext uri="{FF2B5EF4-FFF2-40B4-BE49-F238E27FC236}">
                <a16:creationId xmlns:a16="http://schemas.microsoft.com/office/drawing/2014/main" id="{28DA2C23-18B1-6F83-1B12-B4BBFCF4B163}"/>
              </a:ext>
            </a:extLst>
          </p:cNvPr>
          <p:cNvSpPr>
            <a:spLocks noChangeArrowheads="1"/>
          </p:cNvSpPr>
          <p:nvPr/>
        </p:nvSpPr>
        <p:spPr bwMode="auto">
          <a:xfrm>
            <a:off x="401080" y="603343"/>
            <a:ext cx="725814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Successful replies mean the network is properly configured</a:t>
            </a: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IP pinging helps verify if two devices can communicate across the network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for testing both local and remote device connections.</a:t>
            </a:r>
          </a:p>
        </p:txBody>
      </p:sp>
      <p:sp>
        <p:nvSpPr>
          <p:cNvPr id="15" name="Slide Number Placeholder 14">
            <a:extLst>
              <a:ext uri="{FF2B5EF4-FFF2-40B4-BE49-F238E27FC236}">
                <a16:creationId xmlns:a16="http://schemas.microsoft.com/office/drawing/2014/main" id="{140B6FFF-85B4-FF46-1B1C-598BED5CF7F7}"/>
              </a:ext>
            </a:extLst>
          </p:cNvPr>
          <p:cNvSpPr>
            <a:spLocks noGrp="1"/>
          </p:cNvSpPr>
          <p:nvPr>
            <p:ph type="sldNum" sz="quarter" idx="12"/>
          </p:nvPr>
        </p:nvSpPr>
        <p:spPr/>
        <p:txBody>
          <a:bodyPr/>
          <a:lstStyle/>
          <a:p>
            <a:fld id="{54092646-63C8-4ED7-BF80-A13A2D7A34BD}" type="slidenum">
              <a:rPr lang="en-US" smtClean="0">
                <a:solidFill>
                  <a:schemeClr val="tx1"/>
                </a:solidFill>
              </a:rPr>
              <a:t>15</a:t>
            </a:fld>
            <a:endParaRPr lang="en-US" dirty="0">
              <a:solidFill>
                <a:schemeClr val="tx1"/>
              </a:solidFill>
            </a:endParaRPr>
          </a:p>
        </p:txBody>
      </p:sp>
    </p:spTree>
    <p:extLst>
      <p:ext uri="{BB962C8B-B14F-4D97-AF65-F5344CB8AC3E}">
        <p14:creationId xmlns:p14="http://schemas.microsoft.com/office/powerpoint/2010/main" val="32401203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C394584A-12EF-0AF3-D1E3-919C0BD205A0}"/>
              </a:ext>
            </a:extLst>
          </p:cNvPr>
          <p:cNvSpPr>
            <a:spLocks noChangeArrowheads="1"/>
          </p:cNvSpPr>
          <p:nvPr/>
        </p:nvSpPr>
        <p:spPr bwMode="auto">
          <a:xfrm>
            <a:off x="4274987" y="126521"/>
            <a:ext cx="3642023"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2900" dirty="0">
                <a:latin typeface="Bernard MT Condensed" panose="02050806060905020404" pitchFamily="18" charset="0"/>
              </a:rPr>
              <a:t>Packet Tracer Test Cases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900" i="0" u="none" strike="noStrike" cap="none" normalizeH="0" baseline="0" dirty="0">
              <a:ln>
                <a:noFill/>
              </a:ln>
              <a:solidFill>
                <a:schemeClr val="tx1"/>
              </a:solidFill>
              <a:effectLst/>
              <a:latin typeface="Bernard MT Condensed" panose="02050806060905020404" pitchFamily="18" charset="0"/>
            </a:endParaRPr>
          </a:p>
        </p:txBody>
      </p:sp>
      <p:pic>
        <p:nvPicPr>
          <p:cNvPr id="2051" name="Picture 1">
            <a:extLst>
              <a:ext uri="{FF2B5EF4-FFF2-40B4-BE49-F238E27FC236}">
                <a16:creationId xmlns:a16="http://schemas.microsoft.com/office/drawing/2014/main" id="{636327EB-BC66-1499-D6A8-5EF1B6FBFC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563" y="1763120"/>
            <a:ext cx="3527725" cy="22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2" name="Picture 1">
            <a:extLst>
              <a:ext uri="{FF2B5EF4-FFF2-40B4-BE49-F238E27FC236}">
                <a16:creationId xmlns:a16="http://schemas.microsoft.com/office/drawing/2014/main" id="{B4C2D530-C5E6-37C3-CB5E-8B0E0938C7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7237" y="1763120"/>
            <a:ext cx="3679773" cy="2366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Table 4">
            <a:extLst>
              <a:ext uri="{FF2B5EF4-FFF2-40B4-BE49-F238E27FC236}">
                <a16:creationId xmlns:a16="http://schemas.microsoft.com/office/drawing/2014/main" id="{9A32A8C4-B0ED-D3C6-2E6B-065D462CC863}"/>
              </a:ext>
            </a:extLst>
          </p:cNvPr>
          <p:cNvGraphicFramePr>
            <a:graphicFrameLocks noGrp="1"/>
          </p:cNvGraphicFramePr>
          <p:nvPr>
            <p:extLst>
              <p:ext uri="{D42A27DB-BD31-4B8C-83A1-F6EECF244321}">
                <p14:modId xmlns:p14="http://schemas.microsoft.com/office/powerpoint/2010/main" val="3914110731"/>
              </p:ext>
            </p:extLst>
          </p:nvPr>
        </p:nvGraphicFramePr>
        <p:xfrm>
          <a:off x="8064313" y="2577552"/>
          <a:ext cx="3642022" cy="737997"/>
        </p:xfrm>
        <a:graphic>
          <a:graphicData uri="http://schemas.openxmlformats.org/drawingml/2006/table">
            <a:tbl>
              <a:tblPr firstRow="1" firstCol="1" bandRow="1">
                <a:tableStyleId>{5C22544A-7EE6-4342-B048-85BDC9FD1C3A}</a:tableStyleId>
              </a:tblPr>
              <a:tblGrid>
                <a:gridCol w="1606109">
                  <a:extLst>
                    <a:ext uri="{9D8B030D-6E8A-4147-A177-3AD203B41FA5}">
                      <a16:colId xmlns:a16="http://schemas.microsoft.com/office/drawing/2014/main" val="151209176"/>
                    </a:ext>
                  </a:extLst>
                </a:gridCol>
                <a:gridCol w="2035913">
                  <a:extLst>
                    <a:ext uri="{9D8B030D-6E8A-4147-A177-3AD203B41FA5}">
                      <a16:colId xmlns:a16="http://schemas.microsoft.com/office/drawing/2014/main" val="143829012"/>
                    </a:ext>
                  </a:extLst>
                </a:gridCol>
              </a:tblGrid>
              <a:tr h="0">
                <a:tc>
                  <a:txBody>
                    <a:bodyPr/>
                    <a:lstStyle/>
                    <a:p>
                      <a:pPr marL="0" marR="0" indent="0" algn="just">
                        <a:lnSpc>
                          <a:spcPct val="150000"/>
                        </a:lnSpc>
                        <a:spcAft>
                          <a:spcPts val="70"/>
                        </a:spcAft>
                        <a:buNone/>
                      </a:pPr>
                      <a:r>
                        <a:rPr lang="en-US" sz="1200" dirty="0">
                          <a:effectLst/>
                        </a:rPr>
                        <a:t>Test Case </a:t>
                      </a:r>
                      <a:endParaRPr lang="en-US" sz="1200" dirty="0">
                        <a:solidFill>
                          <a:srgbClr val="000000"/>
                        </a:solidFill>
                        <a:effectLst/>
                        <a:latin typeface="Calibri" panose="020F0502020204030204" pitchFamily="34" charset="0"/>
                        <a:ea typeface="Calibri" panose="020F0502020204030204" pitchFamily="34" charset="0"/>
                      </a:endParaRPr>
                    </a:p>
                  </a:txBody>
                  <a:tcPr marL="68580" marR="68580" marT="0" marB="0"/>
                </a:tc>
                <a:tc>
                  <a:txBody>
                    <a:bodyPr/>
                    <a:lstStyle/>
                    <a:p>
                      <a:pPr marL="0" marR="0" indent="0" algn="just">
                        <a:lnSpc>
                          <a:spcPct val="150000"/>
                        </a:lnSpc>
                        <a:spcAft>
                          <a:spcPts val="70"/>
                        </a:spcAft>
                        <a:buNone/>
                      </a:pPr>
                      <a:r>
                        <a:rPr lang="en-US" sz="1200">
                          <a:effectLst/>
                        </a:rPr>
                        <a:t>Device used</a:t>
                      </a:r>
                      <a:endParaRPr lang="en-US" sz="1200">
                        <a:solidFill>
                          <a:srgbClr val="000000"/>
                        </a:solidFill>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260343533"/>
                  </a:ext>
                </a:extLst>
              </a:tr>
              <a:tr h="0">
                <a:tc>
                  <a:txBody>
                    <a:bodyPr/>
                    <a:lstStyle/>
                    <a:p>
                      <a:pPr marL="0" marR="0" indent="0">
                        <a:lnSpc>
                          <a:spcPct val="150000"/>
                        </a:lnSpc>
                        <a:spcAft>
                          <a:spcPts val="70"/>
                        </a:spcAft>
                        <a:buNone/>
                      </a:pPr>
                      <a:r>
                        <a:rPr lang="en-US" sz="1200" dirty="0">
                          <a:effectLst/>
                        </a:rPr>
                        <a:t>Galle-Admin-PC2</a:t>
                      </a:r>
                      <a:endParaRPr lang="en-US" sz="1200" dirty="0">
                        <a:solidFill>
                          <a:srgbClr val="000000"/>
                        </a:solidFill>
                        <a:effectLst/>
                        <a:latin typeface="Calibri" panose="020F0502020204030204" pitchFamily="34" charset="0"/>
                        <a:ea typeface="Calibri" panose="020F0502020204030204" pitchFamily="34" charset="0"/>
                      </a:endParaRPr>
                    </a:p>
                  </a:txBody>
                  <a:tcPr marL="68580" marR="68580" marT="0" marB="0"/>
                </a:tc>
                <a:tc>
                  <a:txBody>
                    <a:bodyPr/>
                    <a:lstStyle/>
                    <a:p>
                      <a:pPr marL="0" marR="0" indent="0">
                        <a:lnSpc>
                          <a:spcPct val="150000"/>
                        </a:lnSpc>
                        <a:spcAft>
                          <a:spcPts val="70"/>
                        </a:spcAft>
                        <a:buNone/>
                      </a:pPr>
                      <a:r>
                        <a:rPr lang="en-US" sz="1200" dirty="0">
                          <a:effectLst/>
                        </a:rPr>
                        <a:t>Galle-Admin-PC10</a:t>
                      </a:r>
                      <a:endParaRPr lang="en-US" sz="1200" dirty="0">
                        <a:solidFill>
                          <a:srgbClr val="000000"/>
                        </a:solidFill>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254311569"/>
                  </a:ext>
                </a:extLst>
              </a:tr>
              <a:tr h="0">
                <a:tc>
                  <a:txBody>
                    <a:bodyPr/>
                    <a:lstStyle/>
                    <a:p>
                      <a:pPr marL="0" marR="0" indent="0">
                        <a:lnSpc>
                          <a:spcPct val="150000"/>
                        </a:lnSpc>
                        <a:spcAft>
                          <a:spcPts val="70"/>
                        </a:spcAft>
                        <a:buNone/>
                      </a:pPr>
                      <a:r>
                        <a:rPr lang="en-US" sz="1200">
                          <a:effectLst/>
                        </a:rPr>
                        <a:t>Galle-Acc/Fin-PC6</a:t>
                      </a:r>
                      <a:endParaRPr lang="en-US" sz="1200">
                        <a:solidFill>
                          <a:srgbClr val="000000"/>
                        </a:solidFill>
                        <a:effectLst/>
                        <a:latin typeface="Calibri" panose="020F0502020204030204" pitchFamily="34" charset="0"/>
                        <a:ea typeface="Calibri" panose="020F0502020204030204" pitchFamily="34" charset="0"/>
                      </a:endParaRPr>
                    </a:p>
                  </a:txBody>
                  <a:tcPr marL="68580" marR="68580" marT="0" marB="0"/>
                </a:tc>
                <a:tc>
                  <a:txBody>
                    <a:bodyPr/>
                    <a:lstStyle/>
                    <a:p>
                      <a:pPr marL="0" marR="0" indent="0">
                        <a:lnSpc>
                          <a:spcPct val="150000"/>
                        </a:lnSpc>
                        <a:spcAft>
                          <a:spcPts val="70"/>
                        </a:spcAft>
                        <a:buNone/>
                      </a:pPr>
                      <a:r>
                        <a:rPr lang="en-US" sz="1200" dirty="0">
                          <a:effectLst/>
                        </a:rPr>
                        <a:t>Galle-Acc/Fin-PC8</a:t>
                      </a:r>
                      <a:endParaRPr lang="en-US" sz="1200" dirty="0">
                        <a:solidFill>
                          <a:srgbClr val="000000"/>
                        </a:solidFill>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843558523"/>
                  </a:ext>
                </a:extLst>
              </a:tr>
            </a:tbl>
          </a:graphicData>
        </a:graphic>
      </p:graphicFrame>
      <p:sp>
        <p:nvSpPr>
          <p:cNvPr id="7" name="TextBox 6">
            <a:extLst>
              <a:ext uri="{FF2B5EF4-FFF2-40B4-BE49-F238E27FC236}">
                <a16:creationId xmlns:a16="http://schemas.microsoft.com/office/drawing/2014/main" id="{7FF46C1E-36D1-EA5A-11A7-69872C985753}"/>
              </a:ext>
            </a:extLst>
          </p:cNvPr>
          <p:cNvSpPr txBox="1"/>
          <p:nvPr/>
        </p:nvSpPr>
        <p:spPr>
          <a:xfrm>
            <a:off x="465268" y="703469"/>
            <a:ext cx="6094206" cy="954107"/>
          </a:xfrm>
          <a:prstGeom prst="rect">
            <a:avLst/>
          </a:prstGeom>
          <a:noFill/>
        </p:spPr>
        <p:txBody>
          <a:bodyPr wrap="square">
            <a:spAutoFit/>
          </a:bodyPr>
          <a:lstStyle/>
          <a:p>
            <a:r>
              <a:rPr lang="en-US" sz="2000" b="1" u="sng" dirty="0">
                <a:latin typeface="Times New Roman" panose="02020603050405020304" pitchFamily="18" charset="0"/>
                <a:cs typeface="Times New Roman" panose="02020603050405020304" pitchFamily="18" charset="0"/>
              </a:rPr>
              <a:t>What is a Test Case?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 test case is used to check if two devices in the network can talk to each other properly.</a:t>
            </a:r>
          </a:p>
        </p:txBody>
      </p:sp>
      <p:sp>
        <p:nvSpPr>
          <p:cNvPr id="10" name="Slide Number Placeholder 9">
            <a:extLst>
              <a:ext uri="{FF2B5EF4-FFF2-40B4-BE49-F238E27FC236}">
                <a16:creationId xmlns:a16="http://schemas.microsoft.com/office/drawing/2014/main" id="{FC30698B-3E92-235E-ECE6-1F68B54A6AAA}"/>
              </a:ext>
            </a:extLst>
          </p:cNvPr>
          <p:cNvSpPr>
            <a:spLocks noGrp="1"/>
          </p:cNvSpPr>
          <p:nvPr>
            <p:ph type="sldNum" sz="quarter" idx="12"/>
          </p:nvPr>
        </p:nvSpPr>
        <p:spPr/>
        <p:txBody>
          <a:bodyPr/>
          <a:lstStyle/>
          <a:p>
            <a:fld id="{54092646-63C8-4ED7-BF80-A13A2D7A34BD}" type="slidenum">
              <a:rPr lang="en-US" smtClean="0">
                <a:solidFill>
                  <a:schemeClr val="tx1"/>
                </a:solidFill>
              </a:rPr>
              <a:t>16</a:t>
            </a:fld>
            <a:endParaRPr lang="en-US">
              <a:solidFill>
                <a:schemeClr val="tx1"/>
              </a:solidFill>
            </a:endParaRPr>
          </a:p>
        </p:txBody>
      </p:sp>
      <p:pic>
        <p:nvPicPr>
          <p:cNvPr id="2" name="Picture 1">
            <a:extLst>
              <a:ext uri="{FF2B5EF4-FFF2-40B4-BE49-F238E27FC236}">
                <a16:creationId xmlns:a16="http://schemas.microsoft.com/office/drawing/2014/main" id="{E971B661-4D39-4935-268F-48FFF14BAC3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8584" y="4235526"/>
            <a:ext cx="3595704" cy="2605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1">
            <a:extLst>
              <a:ext uri="{FF2B5EF4-FFF2-40B4-BE49-F238E27FC236}">
                <a16:creationId xmlns:a16="http://schemas.microsoft.com/office/drawing/2014/main" id="{365E4D65-ECDE-B704-D1C1-3D50006E4A4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70976" y="4256195"/>
            <a:ext cx="3812294" cy="2584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Table 5">
            <a:extLst>
              <a:ext uri="{FF2B5EF4-FFF2-40B4-BE49-F238E27FC236}">
                <a16:creationId xmlns:a16="http://schemas.microsoft.com/office/drawing/2014/main" id="{867367B4-F1B2-3ECD-CD3B-4BC78FC12965}"/>
              </a:ext>
            </a:extLst>
          </p:cNvPr>
          <p:cNvGraphicFramePr>
            <a:graphicFrameLocks noGrp="1"/>
          </p:cNvGraphicFramePr>
          <p:nvPr>
            <p:extLst>
              <p:ext uri="{D42A27DB-BD31-4B8C-83A1-F6EECF244321}">
                <p14:modId xmlns:p14="http://schemas.microsoft.com/office/powerpoint/2010/main" val="4025804281"/>
              </p:ext>
            </p:extLst>
          </p:nvPr>
        </p:nvGraphicFramePr>
        <p:xfrm>
          <a:off x="8147135" y="5179478"/>
          <a:ext cx="3476377" cy="737997"/>
        </p:xfrm>
        <a:graphic>
          <a:graphicData uri="http://schemas.openxmlformats.org/drawingml/2006/table">
            <a:tbl>
              <a:tblPr firstRow="1" firstCol="1" bandRow="1">
                <a:tableStyleId>{5C22544A-7EE6-4342-B048-85BDC9FD1C3A}</a:tableStyleId>
              </a:tblPr>
              <a:tblGrid>
                <a:gridCol w="1533060">
                  <a:extLst>
                    <a:ext uri="{9D8B030D-6E8A-4147-A177-3AD203B41FA5}">
                      <a16:colId xmlns:a16="http://schemas.microsoft.com/office/drawing/2014/main" val="3805927241"/>
                    </a:ext>
                  </a:extLst>
                </a:gridCol>
                <a:gridCol w="1943317">
                  <a:extLst>
                    <a:ext uri="{9D8B030D-6E8A-4147-A177-3AD203B41FA5}">
                      <a16:colId xmlns:a16="http://schemas.microsoft.com/office/drawing/2014/main" val="160164004"/>
                    </a:ext>
                  </a:extLst>
                </a:gridCol>
              </a:tblGrid>
              <a:tr h="0">
                <a:tc>
                  <a:txBody>
                    <a:bodyPr/>
                    <a:lstStyle/>
                    <a:p>
                      <a:pPr marL="0" marR="0" indent="0" algn="just">
                        <a:lnSpc>
                          <a:spcPct val="150000"/>
                        </a:lnSpc>
                        <a:spcAft>
                          <a:spcPts val="70"/>
                        </a:spcAft>
                        <a:buNone/>
                      </a:pPr>
                      <a:r>
                        <a:rPr lang="en-US" sz="1200">
                          <a:effectLst/>
                        </a:rPr>
                        <a:t>Test Case </a:t>
                      </a:r>
                      <a:endParaRPr lang="en-US" sz="1200">
                        <a:solidFill>
                          <a:srgbClr val="000000"/>
                        </a:solidFill>
                        <a:effectLst/>
                        <a:latin typeface="Calibri" panose="020F0502020204030204" pitchFamily="34" charset="0"/>
                        <a:ea typeface="Calibri" panose="020F0502020204030204" pitchFamily="34" charset="0"/>
                      </a:endParaRPr>
                    </a:p>
                  </a:txBody>
                  <a:tcPr marL="68580" marR="68580" marT="0" marB="0"/>
                </a:tc>
                <a:tc>
                  <a:txBody>
                    <a:bodyPr/>
                    <a:lstStyle/>
                    <a:p>
                      <a:pPr marL="0" marR="0" indent="0" algn="just">
                        <a:lnSpc>
                          <a:spcPct val="150000"/>
                        </a:lnSpc>
                        <a:spcAft>
                          <a:spcPts val="70"/>
                        </a:spcAft>
                        <a:buNone/>
                      </a:pPr>
                      <a:r>
                        <a:rPr lang="en-US" sz="1200" dirty="0">
                          <a:effectLst/>
                        </a:rPr>
                        <a:t>Device used</a:t>
                      </a:r>
                      <a:endParaRPr lang="en-US" sz="1200" dirty="0">
                        <a:solidFill>
                          <a:srgbClr val="000000"/>
                        </a:solidFill>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633145297"/>
                  </a:ext>
                </a:extLst>
              </a:tr>
              <a:tr h="0">
                <a:tc>
                  <a:txBody>
                    <a:bodyPr/>
                    <a:lstStyle/>
                    <a:p>
                      <a:pPr marL="0" marR="0" indent="0">
                        <a:lnSpc>
                          <a:spcPct val="150000"/>
                        </a:lnSpc>
                        <a:spcAft>
                          <a:spcPts val="70"/>
                        </a:spcAft>
                        <a:buNone/>
                      </a:pPr>
                      <a:r>
                        <a:rPr lang="en-US" sz="1200" dirty="0">
                          <a:effectLst/>
                        </a:rPr>
                        <a:t>Galle-IT-PC1</a:t>
                      </a:r>
                      <a:endParaRPr lang="en-US" sz="1200" dirty="0">
                        <a:solidFill>
                          <a:srgbClr val="000000"/>
                        </a:solidFill>
                        <a:effectLst/>
                        <a:latin typeface="Calibri" panose="020F0502020204030204" pitchFamily="34" charset="0"/>
                        <a:ea typeface="Calibri" panose="020F0502020204030204" pitchFamily="34" charset="0"/>
                      </a:endParaRPr>
                    </a:p>
                  </a:txBody>
                  <a:tcPr marL="68580" marR="68580" marT="0" marB="0"/>
                </a:tc>
                <a:tc>
                  <a:txBody>
                    <a:bodyPr/>
                    <a:lstStyle/>
                    <a:p>
                      <a:pPr marL="0" marR="0" indent="0">
                        <a:lnSpc>
                          <a:spcPct val="150000"/>
                        </a:lnSpc>
                        <a:spcAft>
                          <a:spcPts val="70"/>
                        </a:spcAft>
                        <a:buNone/>
                      </a:pPr>
                      <a:r>
                        <a:rPr lang="en-US" sz="1200" dirty="0">
                          <a:effectLst/>
                        </a:rPr>
                        <a:t>Galle-IT-PC4</a:t>
                      </a:r>
                      <a:endParaRPr lang="en-US" sz="1200" dirty="0">
                        <a:solidFill>
                          <a:srgbClr val="000000"/>
                        </a:solidFill>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48581372"/>
                  </a:ext>
                </a:extLst>
              </a:tr>
              <a:tr h="0">
                <a:tc>
                  <a:txBody>
                    <a:bodyPr/>
                    <a:lstStyle/>
                    <a:p>
                      <a:pPr marL="0" marR="0" indent="0">
                        <a:lnSpc>
                          <a:spcPct val="150000"/>
                        </a:lnSpc>
                        <a:spcAft>
                          <a:spcPts val="70"/>
                        </a:spcAft>
                        <a:buNone/>
                      </a:pPr>
                      <a:r>
                        <a:rPr lang="en-US" sz="1200">
                          <a:effectLst/>
                        </a:rPr>
                        <a:t>Galle-Reception-PC1</a:t>
                      </a:r>
                      <a:endParaRPr lang="en-US" sz="1200">
                        <a:solidFill>
                          <a:srgbClr val="000000"/>
                        </a:solidFill>
                        <a:effectLst/>
                        <a:latin typeface="Calibri" panose="020F0502020204030204" pitchFamily="34" charset="0"/>
                        <a:ea typeface="Calibri" panose="020F0502020204030204" pitchFamily="34" charset="0"/>
                      </a:endParaRPr>
                    </a:p>
                  </a:txBody>
                  <a:tcPr marL="68580" marR="68580" marT="0" marB="0"/>
                </a:tc>
                <a:tc>
                  <a:txBody>
                    <a:bodyPr/>
                    <a:lstStyle/>
                    <a:p>
                      <a:pPr marL="0" marR="0" indent="0">
                        <a:lnSpc>
                          <a:spcPct val="150000"/>
                        </a:lnSpc>
                        <a:spcAft>
                          <a:spcPts val="70"/>
                        </a:spcAft>
                        <a:buNone/>
                      </a:pPr>
                      <a:r>
                        <a:rPr lang="en-US" sz="1200" dirty="0">
                          <a:effectLst/>
                        </a:rPr>
                        <a:t>Galle-Reception-PC2</a:t>
                      </a:r>
                      <a:endParaRPr lang="en-US" sz="1200" dirty="0">
                        <a:solidFill>
                          <a:srgbClr val="000000"/>
                        </a:solidFill>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711376289"/>
                  </a:ext>
                </a:extLst>
              </a:tr>
            </a:tbl>
          </a:graphicData>
        </a:graphic>
      </p:graphicFrame>
    </p:spTree>
    <p:extLst>
      <p:ext uri="{BB962C8B-B14F-4D97-AF65-F5344CB8AC3E}">
        <p14:creationId xmlns:p14="http://schemas.microsoft.com/office/powerpoint/2010/main" val="31169568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9A4B4DEF-C952-B104-EF04-CE47B2D751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693" r="12343"/>
          <a:stretch>
            <a:fillRect/>
          </a:stretch>
        </p:blipFill>
        <p:spPr bwMode="auto">
          <a:xfrm>
            <a:off x="218961" y="685294"/>
            <a:ext cx="5279690" cy="4388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058FA56-AB89-22F5-C7E3-67AFC6ED66E9}"/>
              </a:ext>
            </a:extLst>
          </p:cNvPr>
          <p:cNvSpPr txBox="1"/>
          <p:nvPr/>
        </p:nvSpPr>
        <p:spPr>
          <a:xfrm>
            <a:off x="420445" y="5157043"/>
            <a:ext cx="6094206" cy="1477328"/>
          </a:xfrm>
          <a:prstGeom prst="rect">
            <a:avLst/>
          </a:prstGeom>
          <a:noFill/>
        </p:spPr>
        <p:txBody>
          <a:bodyPr wrap="square">
            <a:spAutoFit/>
          </a:bodyPr>
          <a:lstStyle/>
          <a:p>
            <a:r>
              <a:rPr lang="en-US"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Windows setup Server 2012 R2</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Windows Server 2012 R2 is selected and the setup process is beginning.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screen shows the beginning of the installation</a:t>
            </a:r>
          </a:p>
        </p:txBody>
      </p:sp>
      <p:pic>
        <p:nvPicPr>
          <p:cNvPr id="7171" name="Picture 3">
            <a:extLst>
              <a:ext uri="{FF2B5EF4-FFF2-40B4-BE49-F238E27FC236}">
                <a16:creationId xmlns:a16="http://schemas.microsoft.com/office/drawing/2014/main" id="{0190F869-26BA-C397-29B5-D2DF9A8D74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0663" t="2687" r="17279" b="4010"/>
          <a:stretch>
            <a:fillRect/>
          </a:stretch>
        </p:blipFill>
        <p:spPr bwMode="auto">
          <a:xfrm>
            <a:off x="5911977" y="857388"/>
            <a:ext cx="6061062" cy="4044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4E987B08-9714-2671-D2BF-4D15E2A9F524}"/>
              </a:ext>
            </a:extLst>
          </p:cNvPr>
          <p:cNvSpPr txBox="1"/>
          <p:nvPr/>
        </p:nvSpPr>
        <p:spPr>
          <a:xfrm>
            <a:off x="6514651" y="5119120"/>
            <a:ext cx="5207174" cy="1200329"/>
          </a:xfrm>
          <a:prstGeom prst="rect">
            <a:avLst/>
          </a:prstGeom>
          <a:noFill/>
        </p:spPr>
        <p:txBody>
          <a:bodyPr wrap="square">
            <a:spAutoFit/>
          </a:bodyPr>
          <a:lstStyle/>
          <a:p>
            <a:r>
              <a:rPr lang="en-US" sz="1800" b="1" dirty="0">
                <a:solidFill>
                  <a:srgbClr val="000000"/>
                </a:solidFill>
                <a:effectLst/>
                <a:latin typeface="Times New Roman" panose="02020603050405020304" pitchFamily="18" charset="0"/>
                <a:ea typeface="Calibri" panose="020F0502020204030204" pitchFamily="34" charset="0"/>
              </a:rPr>
              <a:t>Windows installation in progress</a:t>
            </a:r>
          </a:p>
          <a:p>
            <a:pPr marL="285750" indent="-285750">
              <a:buFont typeface="Arial" panose="020B0604020202020204" pitchFamily="34" charset="0"/>
              <a:buChar char="•"/>
            </a:pPr>
            <a:r>
              <a:rPr lang="en-US" sz="1800" dirty="0">
                <a:solidFill>
                  <a:srgbClr val="000000"/>
                </a:solidFill>
                <a:effectLst/>
                <a:latin typeface="Times New Roman" panose="02020603050405020304" pitchFamily="18" charset="0"/>
                <a:ea typeface="Calibri" panose="020F0502020204030204" pitchFamily="34" charset="0"/>
              </a:rPr>
              <a:t>Installing win</a:t>
            </a:r>
            <a:r>
              <a:rPr lang="en-US" dirty="0">
                <a:solidFill>
                  <a:srgbClr val="000000"/>
                </a:solidFill>
                <a:latin typeface="Times New Roman" panose="02020603050405020304" pitchFamily="18" charset="0"/>
                <a:ea typeface="Calibri" panose="020F0502020204030204" pitchFamily="34" charset="0"/>
              </a:rPr>
              <a:t>dows</a:t>
            </a:r>
          </a:p>
          <a:p>
            <a:pPr marL="285750" indent="-285750">
              <a:buFont typeface="Arial" panose="020B0604020202020204" pitchFamily="34" charset="0"/>
              <a:buChar char="•"/>
            </a:pPr>
            <a:r>
              <a:rPr lang="en-US" dirty="0"/>
              <a:t>The system is copying files and getting the server ready.</a:t>
            </a:r>
          </a:p>
        </p:txBody>
      </p:sp>
      <p:sp>
        <p:nvSpPr>
          <p:cNvPr id="9" name="TextBox 8">
            <a:extLst>
              <a:ext uri="{FF2B5EF4-FFF2-40B4-BE49-F238E27FC236}">
                <a16:creationId xmlns:a16="http://schemas.microsoft.com/office/drawing/2014/main" id="{C97B301A-0FD5-656E-EA69-53F9F68C391B}"/>
              </a:ext>
            </a:extLst>
          </p:cNvPr>
          <p:cNvSpPr txBox="1"/>
          <p:nvPr/>
        </p:nvSpPr>
        <p:spPr>
          <a:xfrm>
            <a:off x="5058089" y="67223"/>
            <a:ext cx="1707776" cy="538609"/>
          </a:xfrm>
          <a:prstGeom prst="rect">
            <a:avLst/>
          </a:prstGeom>
          <a:noFill/>
        </p:spPr>
        <p:txBody>
          <a:bodyPr wrap="square">
            <a:spAutoFit/>
          </a:bodyPr>
          <a:lstStyle/>
          <a:p>
            <a:r>
              <a:rPr lang="en-US" sz="2900" dirty="0">
                <a:latin typeface="Bernard MT Condensed" panose="02050806060905020404" pitchFamily="18" charset="0"/>
              </a:rPr>
              <a:t>VirtualBox</a:t>
            </a:r>
          </a:p>
        </p:txBody>
      </p:sp>
      <p:sp>
        <p:nvSpPr>
          <p:cNvPr id="12" name="Slide Number Placeholder 11">
            <a:extLst>
              <a:ext uri="{FF2B5EF4-FFF2-40B4-BE49-F238E27FC236}">
                <a16:creationId xmlns:a16="http://schemas.microsoft.com/office/drawing/2014/main" id="{D666CFA8-0833-3292-0847-F885E1389707}"/>
              </a:ext>
            </a:extLst>
          </p:cNvPr>
          <p:cNvSpPr>
            <a:spLocks noGrp="1"/>
          </p:cNvSpPr>
          <p:nvPr>
            <p:ph type="sldNum" sz="quarter" idx="12"/>
          </p:nvPr>
        </p:nvSpPr>
        <p:spPr/>
        <p:txBody>
          <a:bodyPr/>
          <a:lstStyle/>
          <a:p>
            <a:fld id="{54092646-63C8-4ED7-BF80-A13A2D7A34BD}" type="slidenum">
              <a:rPr lang="en-US" smtClean="0">
                <a:solidFill>
                  <a:schemeClr val="tx1"/>
                </a:solidFill>
              </a:rPr>
              <a:t>17</a:t>
            </a:fld>
            <a:endParaRPr lang="en-US">
              <a:solidFill>
                <a:schemeClr val="tx1"/>
              </a:solidFill>
            </a:endParaRPr>
          </a:p>
        </p:txBody>
      </p:sp>
    </p:spTree>
    <p:extLst>
      <p:ext uri="{BB962C8B-B14F-4D97-AF65-F5344CB8AC3E}">
        <p14:creationId xmlns:p14="http://schemas.microsoft.com/office/powerpoint/2010/main" val="20180714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a:extLst>
              <a:ext uri="{FF2B5EF4-FFF2-40B4-BE49-F238E27FC236}">
                <a16:creationId xmlns:a16="http://schemas.microsoft.com/office/drawing/2014/main" id="{6F7B289D-D087-4A53-7697-0E7F7F6037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508" y="648654"/>
            <a:ext cx="5425120" cy="406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15E13C6E-3DF7-76BA-93AD-99E431695BEE}"/>
              </a:ext>
            </a:extLst>
          </p:cNvPr>
          <p:cNvSpPr txBox="1"/>
          <p:nvPr/>
        </p:nvSpPr>
        <p:spPr>
          <a:xfrm>
            <a:off x="191383" y="5010224"/>
            <a:ext cx="6094206" cy="1702967"/>
          </a:xfrm>
          <a:prstGeom prst="rect">
            <a:avLst/>
          </a:prstGeom>
          <a:noFill/>
        </p:spPr>
        <p:txBody>
          <a:bodyPr wrap="square">
            <a:spAutoFit/>
          </a:bodyPr>
          <a:lstStyle/>
          <a:p>
            <a:pPr marL="88900" marR="0" indent="-6350">
              <a:lnSpc>
                <a:spcPct val="103000"/>
              </a:lnSpc>
              <a:spcAft>
                <a:spcPts val="70"/>
              </a:spcAft>
              <a:buNone/>
            </a:pPr>
            <a:r>
              <a:rPr lang="en-US"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network protocol settings in ethernet properties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Opened Ethernet properties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Selected “Internet Protocol Version 4 (TCP/IPv4)”</a:t>
            </a:r>
          </a:p>
          <a:p>
            <a:endParaRPr lang="en-US" dirty="0">
              <a:latin typeface="Times New Roman" panose="02020603050405020304" pitchFamily="18" charset="0"/>
              <a:cs typeface="Times New Roman" panose="02020603050405020304" pitchFamily="18" charset="0"/>
            </a:endParaRPr>
          </a:p>
          <a:p>
            <a:pPr marL="88900" marR="0" indent="-6350">
              <a:lnSpc>
                <a:spcPct val="103000"/>
              </a:lnSpc>
              <a:spcAft>
                <a:spcPts val="70"/>
              </a:spcAft>
              <a:buNone/>
            </a:pPr>
            <a:endParaRPr lang="en-US"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88900" marR="0" indent="-6350">
              <a:lnSpc>
                <a:spcPct val="103000"/>
              </a:lnSpc>
              <a:spcAft>
                <a:spcPts val="70"/>
              </a:spcAft>
              <a:buNone/>
            </a:pPr>
            <a:endPar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8195" name="Picture 3">
            <a:extLst>
              <a:ext uri="{FF2B5EF4-FFF2-40B4-BE49-F238E27FC236}">
                <a16:creationId xmlns:a16="http://schemas.microsoft.com/office/drawing/2014/main" id="{3F8483AC-810A-90D2-3F17-632AC90083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5589" y="648654"/>
            <a:ext cx="5394350" cy="406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BE973933-025C-7C56-4B16-531C0FA683E8}"/>
              </a:ext>
            </a:extLst>
          </p:cNvPr>
          <p:cNvSpPr txBox="1"/>
          <p:nvPr/>
        </p:nvSpPr>
        <p:spPr>
          <a:xfrm>
            <a:off x="6616626" y="5010224"/>
            <a:ext cx="6094206" cy="1754326"/>
          </a:xfrm>
          <a:prstGeom prst="rect">
            <a:avLst/>
          </a:prstGeom>
          <a:noFill/>
        </p:spPr>
        <p:txBody>
          <a:bodyPr wrap="square">
            <a:spAutoFit/>
          </a:bodyPr>
          <a:lstStyle/>
          <a:p>
            <a:r>
              <a:rPr lang="en-US" sz="1800" b="1" dirty="0">
                <a:solidFill>
                  <a:srgbClr val="000000"/>
                </a:solidFill>
                <a:effectLst/>
                <a:latin typeface="Times New Roman" panose="02020603050405020304" pitchFamily="18" charset="0"/>
                <a:ea typeface="Calibri" panose="020F0502020204030204" pitchFamily="34" charset="0"/>
              </a:rPr>
              <a:t>setting IP address, subnet masks and default gateway</a:t>
            </a:r>
          </a:p>
          <a:p>
            <a:pPr marL="285750" indent="-285750">
              <a:buFont typeface="Arial" panose="020B0604020202020204" pitchFamily="34" charset="0"/>
              <a:buChar char="•"/>
            </a:pPr>
            <a:r>
              <a:rPr lang="en-US" sz="1800" dirty="0">
                <a:solidFill>
                  <a:srgbClr val="000000"/>
                </a:solidFill>
                <a:effectLst/>
                <a:latin typeface="Times New Roman" panose="02020603050405020304" pitchFamily="18" charset="0"/>
                <a:ea typeface="Calibri" panose="020F0502020204030204" pitchFamily="34" charset="0"/>
              </a:rPr>
              <a:t>Entered: static IP address</a:t>
            </a:r>
          </a:p>
          <a:p>
            <a:r>
              <a:rPr lang="en-US" sz="1800" dirty="0">
                <a:solidFill>
                  <a:srgbClr val="000000"/>
                </a:solidFill>
                <a:effectLst/>
                <a:latin typeface="Times New Roman" panose="02020603050405020304" pitchFamily="18" charset="0"/>
                <a:ea typeface="Calibri" panose="020F0502020204030204" pitchFamily="34" charset="0"/>
              </a:rPr>
              <a:t>                   subnet mask</a:t>
            </a:r>
          </a:p>
          <a:p>
            <a:r>
              <a:rPr lang="en-US" dirty="0">
                <a:solidFill>
                  <a:srgbClr val="000000"/>
                </a:solidFill>
                <a:latin typeface="Times New Roman" panose="02020603050405020304" pitchFamily="18" charset="0"/>
                <a:ea typeface="Calibri" panose="020F0502020204030204" pitchFamily="34" charset="0"/>
              </a:rPr>
              <a:t>                   default gateway</a:t>
            </a:r>
          </a:p>
          <a:p>
            <a:pPr marL="285750" indent="-285750">
              <a:buFont typeface="Arial" panose="020B0604020202020204" pitchFamily="34" charset="0"/>
              <a:buChar char="•"/>
            </a:pPr>
            <a:r>
              <a:rPr lang="en-US" sz="1800" dirty="0">
                <a:solidFill>
                  <a:srgbClr val="000000"/>
                </a:solidFill>
                <a:effectLst/>
                <a:latin typeface="Times New Roman" panose="02020603050405020304" pitchFamily="18" charset="0"/>
                <a:ea typeface="Calibri" panose="020F0502020204030204" pitchFamily="34" charset="0"/>
              </a:rPr>
              <a:t>Helps server connect to the network correctly</a:t>
            </a:r>
          </a:p>
          <a:p>
            <a:endParaRPr lang="en-US" dirty="0"/>
          </a:p>
        </p:txBody>
      </p:sp>
      <p:sp>
        <p:nvSpPr>
          <p:cNvPr id="10" name="Slide Number Placeholder 9">
            <a:extLst>
              <a:ext uri="{FF2B5EF4-FFF2-40B4-BE49-F238E27FC236}">
                <a16:creationId xmlns:a16="http://schemas.microsoft.com/office/drawing/2014/main" id="{BE172B61-ACC7-288C-3E62-2FE6B66CFBDB}"/>
              </a:ext>
            </a:extLst>
          </p:cNvPr>
          <p:cNvSpPr>
            <a:spLocks noGrp="1"/>
          </p:cNvSpPr>
          <p:nvPr>
            <p:ph type="sldNum" sz="quarter" idx="12"/>
          </p:nvPr>
        </p:nvSpPr>
        <p:spPr/>
        <p:txBody>
          <a:bodyPr/>
          <a:lstStyle/>
          <a:p>
            <a:fld id="{54092646-63C8-4ED7-BF80-A13A2D7A34BD}" type="slidenum">
              <a:rPr lang="en-US" smtClean="0">
                <a:solidFill>
                  <a:schemeClr val="tx1"/>
                </a:solidFill>
              </a:rPr>
              <a:t>18</a:t>
            </a:fld>
            <a:endParaRPr lang="en-US" dirty="0">
              <a:solidFill>
                <a:schemeClr val="tx1"/>
              </a:solidFill>
            </a:endParaRPr>
          </a:p>
        </p:txBody>
      </p:sp>
    </p:spTree>
    <p:extLst>
      <p:ext uri="{BB962C8B-B14F-4D97-AF65-F5344CB8AC3E}">
        <p14:creationId xmlns:p14="http://schemas.microsoft.com/office/powerpoint/2010/main" val="22938142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a:extLst>
              <a:ext uri="{FF2B5EF4-FFF2-40B4-BE49-F238E27FC236}">
                <a16:creationId xmlns:a16="http://schemas.microsoft.com/office/drawing/2014/main" id="{DDC577F6-B379-2CA1-5EF5-630C3B9C53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80" y="527198"/>
            <a:ext cx="5581630" cy="417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0704AB29-B9BE-0C71-B75D-3A43542AAD48}"/>
              </a:ext>
            </a:extLst>
          </p:cNvPr>
          <p:cNvSpPr txBox="1"/>
          <p:nvPr/>
        </p:nvSpPr>
        <p:spPr>
          <a:xfrm>
            <a:off x="510988" y="5007827"/>
            <a:ext cx="4203887" cy="1200329"/>
          </a:xfrm>
          <a:prstGeom prst="rect">
            <a:avLst/>
          </a:prstGeom>
          <a:noFill/>
        </p:spPr>
        <p:txBody>
          <a:bodyPr wrap="square">
            <a:spAutoFit/>
          </a:bodyPr>
          <a:lstStyle/>
          <a:p>
            <a:r>
              <a:rPr lang="en-US" sz="1800" b="1" dirty="0">
                <a:solidFill>
                  <a:srgbClr val="000000"/>
                </a:solidFill>
                <a:effectLst/>
                <a:latin typeface="Times New Roman" panose="02020603050405020304" pitchFamily="18" charset="0"/>
                <a:ea typeface="Calibri" panose="020F0502020204030204" pitchFamily="34" charset="0"/>
              </a:rPr>
              <a:t>installing features for DHCP server</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DHCP server is being installed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Its setting up the network service and prepares the server</a:t>
            </a:r>
          </a:p>
        </p:txBody>
      </p:sp>
      <p:pic>
        <p:nvPicPr>
          <p:cNvPr id="9219" name="Picture 3">
            <a:extLst>
              <a:ext uri="{FF2B5EF4-FFF2-40B4-BE49-F238E27FC236}">
                <a16:creationId xmlns:a16="http://schemas.microsoft.com/office/drawing/2014/main" id="{CB464296-8474-D34C-2678-E46814CF5F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527198"/>
            <a:ext cx="5568876" cy="417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43779E9B-48BF-4E84-DF13-5D32F20D7176}"/>
              </a:ext>
            </a:extLst>
          </p:cNvPr>
          <p:cNvSpPr txBox="1"/>
          <p:nvPr/>
        </p:nvSpPr>
        <p:spPr>
          <a:xfrm>
            <a:off x="6315077" y="4879022"/>
            <a:ext cx="4314823" cy="1477328"/>
          </a:xfrm>
          <a:prstGeom prst="rect">
            <a:avLst/>
          </a:prstGeom>
          <a:noFill/>
        </p:spPr>
        <p:txBody>
          <a:bodyPr wrap="square">
            <a:spAutoFit/>
          </a:bodyPr>
          <a:lstStyle/>
          <a:p>
            <a:r>
              <a:rPr lang="en-US" sz="1800" b="1" dirty="0">
                <a:solidFill>
                  <a:srgbClr val="000000"/>
                </a:solidFill>
                <a:effectLst/>
                <a:latin typeface="Times New Roman" panose="02020603050405020304" pitchFamily="18" charset="0"/>
                <a:ea typeface="Calibri" panose="020F0502020204030204" pitchFamily="34" charset="0"/>
              </a:rPr>
              <a:t>adding a scope</a:t>
            </a:r>
          </a:p>
          <a:p>
            <a:pPr marL="285750" indent="-285750">
              <a:buFont typeface="Arial" panose="020B0604020202020204" pitchFamily="34" charset="0"/>
              <a:buChar char="•"/>
            </a:pPr>
            <a:r>
              <a:rPr lang="en-US" dirty="0"/>
              <a:t>setting up a DHCP scope</a:t>
            </a:r>
          </a:p>
          <a:p>
            <a:pPr marL="285750" indent="-285750">
              <a:buFont typeface="Arial" panose="020B0604020202020204" pitchFamily="34" charset="0"/>
              <a:buChar char="•"/>
            </a:pPr>
            <a:r>
              <a:rPr lang="en-US" dirty="0"/>
              <a:t>A scope makes IP assigning easier in the network</a:t>
            </a:r>
          </a:p>
          <a:p>
            <a:endParaRPr lang="en-US" dirty="0"/>
          </a:p>
        </p:txBody>
      </p:sp>
      <p:sp>
        <p:nvSpPr>
          <p:cNvPr id="10" name="Slide Number Placeholder 9">
            <a:extLst>
              <a:ext uri="{FF2B5EF4-FFF2-40B4-BE49-F238E27FC236}">
                <a16:creationId xmlns:a16="http://schemas.microsoft.com/office/drawing/2014/main" id="{D70E800E-A9E4-4D41-215A-360301314F9C}"/>
              </a:ext>
            </a:extLst>
          </p:cNvPr>
          <p:cNvSpPr>
            <a:spLocks noGrp="1"/>
          </p:cNvSpPr>
          <p:nvPr>
            <p:ph type="sldNum" sz="quarter" idx="12"/>
          </p:nvPr>
        </p:nvSpPr>
        <p:spPr/>
        <p:txBody>
          <a:bodyPr/>
          <a:lstStyle/>
          <a:p>
            <a:fld id="{54092646-63C8-4ED7-BF80-A13A2D7A34BD}" type="slidenum">
              <a:rPr lang="en-US" smtClean="0">
                <a:solidFill>
                  <a:schemeClr val="tx1"/>
                </a:solidFill>
              </a:rPr>
              <a:t>19</a:t>
            </a:fld>
            <a:endParaRPr lang="en-US">
              <a:solidFill>
                <a:schemeClr val="tx1"/>
              </a:solidFill>
            </a:endParaRPr>
          </a:p>
        </p:txBody>
      </p:sp>
    </p:spTree>
    <p:extLst>
      <p:ext uri="{BB962C8B-B14F-4D97-AF65-F5344CB8AC3E}">
        <p14:creationId xmlns:p14="http://schemas.microsoft.com/office/powerpoint/2010/main" val="29587891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B0C6E62-EC37-FA90-E470-4A0898057994}"/>
              </a:ext>
            </a:extLst>
          </p:cNvPr>
          <p:cNvSpPr txBox="1"/>
          <p:nvPr/>
        </p:nvSpPr>
        <p:spPr>
          <a:xfrm>
            <a:off x="3855495" y="52489"/>
            <a:ext cx="5214322" cy="538609"/>
          </a:xfrm>
          <a:prstGeom prst="rect">
            <a:avLst/>
          </a:prstGeom>
          <a:noFill/>
        </p:spPr>
        <p:txBody>
          <a:bodyPr wrap="square">
            <a:spAutoFit/>
          </a:bodyPr>
          <a:lstStyle/>
          <a:p>
            <a:r>
              <a:rPr lang="en-US" sz="2900" dirty="0">
                <a:latin typeface="Bernard MT Condensed" panose="02050806060905020404" pitchFamily="18" charset="0"/>
              </a:rPr>
              <a:t>Active Directory Setup in VirtualBox</a:t>
            </a:r>
          </a:p>
        </p:txBody>
      </p:sp>
      <p:sp>
        <p:nvSpPr>
          <p:cNvPr id="7" name="TextBox 6">
            <a:extLst>
              <a:ext uri="{FF2B5EF4-FFF2-40B4-BE49-F238E27FC236}">
                <a16:creationId xmlns:a16="http://schemas.microsoft.com/office/drawing/2014/main" id="{342024D5-E6EE-59B9-DFCD-E4E5FA863F20}"/>
              </a:ext>
            </a:extLst>
          </p:cNvPr>
          <p:cNvSpPr txBox="1"/>
          <p:nvPr/>
        </p:nvSpPr>
        <p:spPr>
          <a:xfrm>
            <a:off x="368450" y="836824"/>
            <a:ext cx="10044952" cy="1477328"/>
          </a:xfrm>
          <a:prstGeom prst="rect">
            <a:avLst/>
          </a:prstGeom>
          <a:noFill/>
        </p:spPr>
        <p:txBody>
          <a:bodyPr wrap="square">
            <a:spAutoFit/>
          </a:bodyPr>
          <a:lstStyle/>
          <a:p>
            <a:pPr>
              <a:buNone/>
            </a:pPr>
            <a:r>
              <a:rPr lang="en-US" b="1" u="sng" dirty="0">
                <a:latin typeface="Times New Roman" panose="02020603050405020304" pitchFamily="18" charset="0"/>
                <a:cs typeface="Times New Roman" panose="02020603050405020304" pitchFamily="18" charset="0"/>
              </a:rPr>
              <a:t>1. What is Active Directory (AD)?</a:t>
            </a:r>
          </a:p>
          <a:p>
            <a:pPr>
              <a:buNone/>
            </a:pP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AD is a </a:t>
            </a:r>
            <a:r>
              <a:rPr lang="en-US" b="1" dirty="0">
                <a:latin typeface="Times New Roman" panose="02020603050405020304" pitchFamily="18" charset="0"/>
                <a:cs typeface="Times New Roman" panose="02020603050405020304" pitchFamily="18" charset="0"/>
              </a:rPr>
              <a:t>directory service</a:t>
            </a:r>
            <a:r>
              <a:rPr lang="en-US" dirty="0">
                <a:latin typeface="Times New Roman" panose="02020603050405020304" pitchFamily="18" charset="0"/>
                <a:cs typeface="Times New Roman" panose="02020603050405020304" pitchFamily="18" charset="0"/>
              </a:rPr>
              <a:t> by Microsoft used to manage users, computers, and resources in a network, Using AD means we can manage all Redco’s users, passwords, and devices from one location (Microsoft, 2023)..</a:t>
            </a:r>
          </a:p>
        </p:txBody>
      </p:sp>
      <p:sp>
        <p:nvSpPr>
          <p:cNvPr id="9" name="TextBox 8">
            <a:extLst>
              <a:ext uri="{FF2B5EF4-FFF2-40B4-BE49-F238E27FC236}">
                <a16:creationId xmlns:a16="http://schemas.microsoft.com/office/drawing/2014/main" id="{AC1A5FA7-77B6-4EF7-1741-DB226926B846}"/>
              </a:ext>
            </a:extLst>
          </p:cNvPr>
          <p:cNvSpPr txBox="1"/>
          <p:nvPr/>
        </p:nvSpPr>
        <p:spPr>
          <a:xfrm>
            <a:off x="368450" y="2904701"/>
            <a:ext cx="3988397" cy="646331"/>
          </a:xfrm>
          <a:prstGeom prst="rect">
            <a:avLst/>
          </a:prstGeom>
          <a:noFill/>
        </p:spPr>
        <p:txBody>
          <a:bodyPr wrap="square">
            <a:spAutoFit/>
          </a:bodyPr>
          <a:lstStyle/>
          <a:p>
            <a:r>
              <a:rPr lang="en-US" b="1" u="sng" dirty="0">
                <a:latin typeface="Times New Roman" panose="02020603050405020304" pitchFamily="18" charset="0"/>
                <a:cs typeface="Times New Roman" panose="02020603050405020304" pitchFamily="18" charset="0"/>
              </a:rPr>
              <a:t>2. Installing and Setting up AD in VirtualBox</a:t>
            </a:r>
          </a:p>
        </p:txBody>
      </p:sp>
      <p:sp>
        <p:nvSpPr>
          <p:cNvPr id="12" name="Rectangle 3">
            <a:extLst>
              <a:ext uri="{FF2B5EF4-FFF2-40B4-BE49-F238E27FC236}">
                <a16:creationId xmlns:a16="http://schemas.microsoft.com/office/drawing/2014/main" id="{E5A50431-70C9-B1A8-4C6B-97F0BCE71C3C}"/>
              </a:ext>
            </a:extLst>
          </p:cNvPr>
          <p:cNvSpPr>
            <a:spLocks noChangeArrowheads="1"/>
          </p:cNvSpPr>
          <p:nvPr/>
        </p:nvSpPr>
        <p:spPr bwMode="auto">
          <a:xfrm>
            <a:off x="368450" y="3782001"/>
            <a:ext cx="3375211"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Windows Server 2019 installed in VirtualBox</a:t>
            </a:r>
          </a:p>
          <a:p>
            <a:pPr marL="0" marR="0" lvl="0" indent="0" algn="l" defTabSz="914400" rtl="0" eaLnBrk="0" fontAlgn="base" latinLnBrk="0" hangingPunct="0">
              <a:lnSpc>
                <a:spcPct val="100000"/>
              </a:lnSpc>
              <a:spcBef>
                <a:spcPct val="0"/>
              </a:spcBef>
              <a:spcAft>
                <a:spcPct val="0"/>
              </a:spcAft>
              <a:buClrTx/>
              <a:buSzTx/>
              <a:tabLst/>
            </a:pP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Roles added: AD DS (Active Directory Domain Services)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Promoted to a Domain Controller</a:t>
            </a:r>
          </a:p>
          <a:p>
            <a:pPr marL="0" marR="0" lvl="0" indent="0" algn="l" defTabSz="914400" rtl="0" eaLnBrk="0" fontAlgn="base" latinLnBrk="0" hangingPunct="0">
              <a:lnSpc>
                <a:spcPct val="100000"/>
              </a:lnSpc>
              <a:spcBef>
                <a:spcPct val="0"/>
              </a:spcBef>
              <a:spcAft>
                <a:spcPct val="0"/>
              </a:spcAft>
              <a:buClrTx/>
              <a:buSzTx/>
              <a:tabLst/>
            </a:pP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Domain Name Used: redco.lk</a:t>
            </a:r>
          </a:p>
        </p:txBody>
      </p:sp>
      <p:pic>
        <p:nvPicPr>
          <p:cNvPr id="14" name="Picture 13">
            <a:extLst>
              <a:ext uri="{FF2B5EF4-FFF2-40B4-BE49-F238E27FC236}">
                <a16:creationId xmlns:a16="http://schemas.microsoft.com/office/drawing/2014/main" id="{26199A51-453B-7F98-C86B-1FFF90E45AAC}"/>
              </a:ext>
            </a:extLst>
          </p:cNvPr>
          <p:cNvPicPr>
            <a:picLocks noChangeAspect="1"/>
          </p:cNvPicPr>
          <p:nvPr/>
        </p:nvPicPr>
        <p:blipFill>
          <a:blip r:embed="rId3">
            <a:extLst>
              <a:ext uri="{28A0092B-C50C-407E-A947-70E740481C1C}">
                <a14:useLocalDpi xmlns:a14="http://schemas.microsoft.com/office/drawing/2010/main" val="0"/>
              </a:ext>
            </a:extLst>
          </a:blip>
          <a:srcRect r="-157" b="32078"/>
          <a:stretch>
            <a:fillRect/>
          </a:stretch>
        </p:blipFill>
        <p:spPr>
          <a:xfrm>
            <a:off x="4103470" y="2776089"/>
            <a:ext cx="7720080" cy="3926540"/>
          </a:xfrm>
          <a:prstGeom prst="rect">
            <a:avLst/>
          </a:prstGeom>
        </p:spPr>
      </p:pic>
      <p:sp>
        <p:nvSpPr>
          <p:cNvPr id="17" name="Slide Number Placeholder 16">
            <a:extLst>
              <a:ext uri="{FF2B5EF4-FFF2-40B4-BE49-F238E27FC236}">
                <a16:creationId xmlns:a16="http://schemas.microsoft.com/office/drawing/2014/main" id="{BCA1DC94-896A-CE04-93AA-C998EF9E0DBA}"/>
              </a:ext>
            </a:extLst>
          </p:cNvPr>
          <p:cNvSpPr>
            <a:spLocks noGrp="1"/>
          </p:cNvSpPr>
          <p:nvPr>
            <p:ph type="sldNum" sz="quarter" idx="12"/>
          </p:nvPr>
        </p:nvSpPr>
        <p:spPr/>
        <p:txBody>
          <a:bodyPr/>
          <a:lstStyle/>
          <a:p>
            <a:fld id="{54092646-63C8-4ED7-BF80-A13A2D7A34BD}" type="slidenum">
              <a:rPr lang="en-US" smtClean="0">
                <a:solidFill>
                  <a:schemeClr val="tx1"/>
                </a:solidFill>
              </a:rPr>
              <a:t>20</a:t>
            </a:fld>
            <a:endParaRPr lang="en-US" dirty="0">
              <a:solidFill>
                <a:schemeClr val="tx1"/>
              </a:solidFill>
            </a:endParaRPr>
          </a:p>
        </p:txBody>
      </p:sp>
    </p:spTree>
    <p:extLst>
      <p:ext uri="{BB962C8B-B14F-4D97-AF65-F5344CB8AC3E}">
        <p14:creationId xmlns:p14="http://schemas.microsoft.com/office/powerpoint/2010/main" val="41469502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A1C5AF7-45F8-F2FC-E374-8FF7F23BF3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315" y="328743"/>
            <a:ext cx="5536604" cy="4327264"/>
          </a:xfrm>
          <a:prstGeom prst="rect">
            <a:avLst/>
          </a:prstGeom>
        </p:spPr>
      </p:pic>
      <p:pic>
        <p:nvPicPr>
          <p:cNvPr id="7" name="Picture 6">
            <a:extLst>
              <a:ext uri="{FF2B5EF4-FFF2-40B4-BE49-F238E27FC236}">
                <a16:creationId xmlns:a16="http://schemas.microsoft.com/office/drawing/2014/main" id="{0D05CCC2-FEA1-1955-3217-839A811AF9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28743"/>
            <a:ext cx="5769685" cy="4327264"/>
          </a:xfrm>
          <a:prstGeom prst="rect">
            <a:avLst/>
          </a:prstGeom>
        </p:spPr>
      </p:pic>
      <p:sp>
        <p:nvSpPr>
          <p:cNvPr id="10" name="Slide Number Placeholder 9">
            <a:extLst>
              <a:ext uri="{FF2B5EF4-FFF2-40B4-BE49-F238E27FC236}">
                <a16:creationId xmlns:a16="http://schemas.microsoft.com/office/drawing/2014/main" id="{F670DADA-4AB0-D167-187E-79119D7BC3B9}"/>
              </a:ext>
            </a:extLst>
          </p:cNvPr>
          <p:cNvSpPr>
            <a:spLocks noGrp="1"/>
          </p:cNvSpPr>
          <p:nvPr>
            <p:ph type="sldNum" sz="quarter" idx="12"/>
          </p:nvPr>
        </p:nvSpPr>
        <p:spPr/>
        <p:txBody>
          <a:bodyPr/>
          <a:lstStyle/>
          <a:p>
            <a:fld id="{54092646-63C8-4ED7-BF80-A13A2D7A34BD}" type="slidenum">
              <a:rPr lang="en-US" smtClean="0">
                <a:solidFill>
                  <a:schemeClr val="tx1"/>
                </a:solidFill>
                <a:latin typeface="Times New Roman" panose="02020603050405020304" pitchFamily="18" charset="0"/>
                <a:cs typeface="Times New Roman" panose="02020603050405020304" pitchFamily="18" charset="0"/>
              </a:rPr>
              <a:t>21</a:t>
            </a:fld>
            <a:endParaRPr lang="en-US">
              <a:solidFill>
                <a:schemeClr val="tx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8A17E2-1069-15C6-3603-20354B418E29}"/>
              </a:ext>
            </a:extLst>
          </p:cNvPr>
          <p:cNvSpPr txBox="1"/>
          <p:nvPr/>
        </p:nvSpPr>
        <p:spPr>
          <a:xfrm>
            <a:off x="185831" y="4879022"/>
            <a:ext cx="5536605" cy="1477328"/>
          </a:xfrm>
          <a:prstGeom prst="rect">
            <a:avLst/>
          </a:prstGeom>
          <a:noFill/>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installing the Active Directory role on the server.</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step is important because it turns the server into a domain controller.</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That means it can control user logins, manage devices, and apply security policies across the network.</a:t>
            </a:r>
          </a:p>
        </p:txBody>
      </p:sp>
      <p:sp>
        <p:nvSpPr>
          <p:cNvPr id="6" name="TextBox 5">
            <a:extLst>
              <a:ext uri="{FF2B5EF4-FFF2-40B4-BE49-F238E27FC236}">
                <a16:creationId xmlns:a16="http://schemas.microsoft.com/office/drawing/2014/main" id="{1CA5A938-BFE1-3978-F3AF-0A6AE640A1B9}"/>
              </a:ext>
            </a:extLst>
          </p:cNvPr>
          <p:cNvSpPr txBox="1"/>
          <p:nvPr/>
        </p:nvSpPr>
        <p:spPr>
          <a:xfrm>
            <a:off x="6096000" y="4879022"/>
            <a:ext cx="5769685" cy="1477328"/>
          </a:xfrm>
          <a:prstGeom prst="rect">
            <a:avLst/>
          </a:prstGeom>
          <a:noFill/>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After installing Active Directory, a new forest is being added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 typed </a:t>
            </a:r>
            <a:r>
              <a:rPr lang="en-US" b="1" dirty="0">
                <a:latin typeface="Times New Roman" panose="02020603050405020304" pitchFamily="18" charset="0"/>
                <a:cs typeface="Times New Roman" panose="02020603050405020304" pitchFamily="18" charset="0"/>
              </a:rPr>
              <a:t>redco.lk</a:t>
            </a:r>
            <a:r>
              <a:rPr lang="en-US" dirty="0">
                <a:latin typeface="Times New Roman" panose="02020603050405020304" pitchFamily="18" charset="0"/>
                <a:cs typeface="Times New Roman" panose="02020603050405020304" pitchFamily="18" charset="0"/>
              </a:rPr>
              <a:t> as the domain name.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is the main identity for our network, and now all the computers and users will be part of this domain.</a:t>
            </a:r>
          </a:p>
        </p:txBody>
      </p:sp>
    </p:spTree>
    <p:extLst>
      <p:ext uri="{BB962C8B-B14F-4D97-AF65-F5344CB8AC3E}">
        <p14:creationId xmlns:p14="http://schemas.microsoft.com/office/powerpoint/2010/main" val="486285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55E984A-99B1-CBB8-D699-A059380CA842}"/>
              </a:ext>
            </a:extLst>
          </p:cNvPr>
          <p:cNvSpPr txBox="1"/>
          <p:nvPr/>
        </p:nvSpPr>
        <p:spPr>
          <a:xfrm>
            <a:off x="279627" y="322213"/>
            <a:ext cx="6856279" cy="2862322"/>
          </a:xfrm>
          <a:prstGeom prst="rect">
            <a:avLst/>
          </a:prstGeom>
          <a:noFill/>
        </p:spPr>
        <p:txBody>
          <a:bodyPr wrap="square">
            <a:spAutoFit/>
          </a:bodyPr>
          <a:lstStyle/>
          <a:p>
            <a:r>
              <a:rPr lang="en-US" b="1" u="sng" dirty="0">
                <a:latin typeface="Times New Roman" panose="02020603050405020304" pitchFamily="18" charset="0"/>
                <a:cs typeface="Times New Roman" panose="02020603050405020304" pitchFamily="18" charset="0"/>
              </a:rPr>
              <a:t>What are Organizational Units (OUs)?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Organizational Units are like folders inside Active Directory.</a:t>
            </a:r>
          </a:p>
          <a:p>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At Redco, we can use them to keep users and devices grouped</a:t>
            </a:r>
          </a:p>
          <a:p>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Then we can apply rules like password policies or software access</a:t>
            </a:r>
          </a:p>
          <a:p>
            <a:endParaRPr lang="en-US" b="1" u="sng" dirty="0">
              <a:latin typeface="Times New Roman" panose="02020603050405020304" pitchFamily="18" charset="0"/>
              <a:cs typeface="Times New Roman" panose="02020603050405020304" pitchFamily="18" charset="0"/>
            </a:endParaRPr>
          </a:p>
          <a:p>
            <a:endParaRPr lang="en-US" b="1" u="sng" dirty="0">
              <a:latin typeface="Times New Roman" panose="02020603050405020304" pitchFamily="18" charset="0"/>
              <a:cs typeface="Times New Roman" panose="02020603050405020304" pitchFamily="18" charset="0"/>
            </a:endParaRPr>
          </a:p>
          <a:p>
            <a:r>
              <a:rPr lang="en-US" b="1" u="sng" dirty="0">
                <a:latin typeface="Times New Roman" panose="02020603050405020304" pitchFamily="18" charset="0"/>
                <a:cs typeface="Times New Roman" panose="02020603050405020304" pitchFamily="18" charset="0"/>
              </a:rPr>
              <a:t>Creating Organizational Units (OUs) and Users</a:t>
            </a:r>
          </a:p>
        </p:txBody>
      </p:sp>
      <p:sp>
        <p:nvSpPr>
          <p:cNvPr id="6" name="Rectangle 1">
            <a:extLst>
              <a:ext uri="{FF2B5EF4-FFF2-40B4-BE49-F238E27FC236}">
                <a16:creationId xmlns:a16="http://schemas.microsoft.com/office/drawing/2014/main" id="{95DEE1C1-E51A-FC1D-ED87-DBA7D9C3E774}"/>
              </a:ext>
            </a:extLst>
          </p:cNvPr>
          <p:cNvSpPr>
            <a:spLocks noChangeArrowheads="1"/>
          </p:cNvSpPr>
          <p:nvPr/>
        </p:nvSpPr>
        <p:spPr bwMode="auto">
          <a:xfrm>
            <a:off x="347188" y="2738718"/>
            <a:ext cx="2940723"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2000" i="0" u="sng"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Developers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latin typeface="Times New Roman" panose="02020603050405020304" pitchFamily="18" charset="0"/>
                <a:cs typeface="Times New Roman" panose="02020603050405020304" pitchFamily="18" charset="0"/>
              </a:rPr>
              <a:t>Sales and marketing</a:t>
            </a: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Reception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Added Users to each OU</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Group Policies can be applied per OU</a:t>
            </a:r>
          </a:p>
        </p:txBody>
      </p:sp>
      <p:pic>
        <p:nvPicPr>
          <p:cNvPr id="8" name="Picture 7">
            <a:extLst>
              <a:ext uri="{FF2B5EF4-FFF2-40B4-BE49-F238E27FC236}">
                <a16:creationId xmlns:a16="http://schemas.microsoft.com/office/drawing/2014/main" id="{D5F705C1-2F6C-534D-60C1-2DEDD3F7A6F2}"/>
              </a:ext>
            </a:extLst>
          </p:cNvPr>
          <p:cNvPicPr>
            <a:picLocks noChangeAspect="1"/>
          </p:cNvPicPr>
          <p:nvPr/>
        </p:nvPicPr>
        <p:blipFill>
          <a:blip r:embed="rId3">
            <a:extLst>
              <a:ext uri="{28A0092B-C50C-407E-A947-70E740481C1C}">
                <a14:useLocalDpi xmlns:a14="http://schemas.microsoft.com/office/drawing/2010/main" val="0"/>
              </a:ext>
            </a:extLst>
          </a:blip>
          <a:srcRect r="42857" b="26683"/>
          <a:stretch>
            <a:fillRect/>
          </a:stretch>
        </p:blipFill>
        <p:spPr>
          <a:xfrm>
            <a:off x="7684984" y="159579"/>
            <a:ext cx="4227389" cy="3007418"/>
          </a:xfrm>
          <a:prstGeom prst="rect">
            <a:avLst/>
          </a:prstGeom>
        </p:spPr>
      </p:pic>
      <p:pic>
        <p:nvPicPr>
          <p:cNvPr id="6146" name="Picture 2">
            <a:extLst>
              <a:ext uri="{FF2B5EF4-FFF2-40B4-BE49-F238E27FC236}">
                <a16:creationId xmlns:a16="http://schemas.microsoft.com/office/drawing/2014/main" id="{571ED773-D1DF-7A64-21B7-309798D94F5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8260" t="16881" r="12552" b="33807"/>
          <a:stretch>
            <a:fillRect/>
          </a:stretch>
        </p:blipFill>
        <p:spPr bwMode="auto">
          <a:xfrm>
            <a:off x="3287911" y="3429000"/>
            <a:ext cx="5267459" cy="24567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Picture 5">
            <a:extLst>
              <a:ext uri="{FF2B5EF4-FFF2-40B4-BE49-F238E27FC236}">
                <a16:creationId xmlns:a16="http://schemas.microsoft.com/office/drawing/2014/main" id="{6F31A617-212E-9769-0858-CD3783D7CC3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700" t="21184" r="46380" b="24736"/>
          <a:stretch>
            <a:fillRect/>
          </a:stretch>
        </p:blipFill>
        <p:spPr bwMode="auto">
          <a:xfrm>
            <a:off x="8687018" y="3305439"/>
            <a:ext cx="3225355" cy="3026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Slide Number Placeholder 10">
            <a:extLst>
              <a:ext uri="{FF2B5EF4-FFF2-40B4-BE49-F238E27FC236}">
                <a16:creationId xmlns:a16="http://schemas.microsoft.com/office/drawing/2014/main" id="{177EC07E-53B4-EB0D-8636-63B8F3377DC5}"/>
              </a:ext>
            </a:extLst>
          </p:cNvPr>
          <p:cNvSpPr>
            <a:spLocks noGrp="1"/>
          </p:cNvSpPr>
          <p:nvPr>
            <p:ph type="sldNum" sz="quarter" idx="12"/>
          </p:nvPr>
        </p:nvSpPr>
        <p:spPr/>
        <p:txBody>
          <a:bodyPr/>
          <a:lstStyle/>
          <a:p>
            <a:fld id="{54092646-63C8-4ED7-BF80-A13A2D7A34BD}" type="slidenum">
              <a:rPr lang="en-US" smtClean="0">
                <a:solidFill>
                  <a:schemeClr val="tx1"/>
                </a:solidFill>
              </a:rPr>
              <a:t>22</a:t>
            </a:fld>
            <a:endParaRPr lang="en-US">
              <a:solidFill>
                <a:schemeClr val="tx1"/>
              </a:solidFill>
            </a:endParaRPr>
          </a:p>
        </p:txBody>
      </p:sp>
    </p:spTree>
    <p:extLst>
      <p:ext uri="{BB962C8B-B14F-4D97-AF65-F5344CB8AC3E}">
        <p14:creationId xmlns:p14="http://schemas.microsoft.com/office/powerpoint/2010/main" val="2095804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902A807-EF5E-E460-0E00-7EF80C7BFFCF}"/>
              </a:ext>
            </a:extLst>
          </p:cNvPr>
          <p:cNvSpPr>
            <a:spLocks noGrp="1"/>
          </p:cNvSpPr>
          <p:nvPr>
            <p:ph type="sldNum" sz="quarter" idx="12"/>
          </p:nvPr>
        </p:nvSpPr>
        <p:spPr/>
        <p:txBody>
          <a:bodyPr/>
          <a:lstStyle/>
          <a:p>
            <a:fld id="{54092646-63C8-4ED7-BF80-A13A2D7A34BD}" type="slidenum">
              <a:rPr lang="en-US" smtClean="0"/>
              <a:t>23</a:t>
            </a:fld>
            <a:endParaRPr lang="en-US"/>
          </a:p>
        </p:txBody>
      </p:sp>
      <p:sp>
        <p:nvSpPr>
          <p:cNvPr id="6" name="TextBox 5">
            <a:extLst>
              <a:ext uri="{FF2B5EF4-FFF2-40B4-BE49-F238E27FC236}">
                <a16:creationId xmlns:a16="http://schemas.microsoft.com/office/drawing/2014/main" id="{633D75EC-DB17-B624-7E81-FD17FDB501CD}"/>
              </a:ext>
            </a:extLst>
          </p:cNvPr>
          <p:cNvSpPr txBox="1"/>
          <p:nvPr/>
        </p:nvSpPr>
        <p:spPr>
          <a:xfrm>
            <a:off x="662609" y="797292"/>
            <a:ext cx="11529391" cy="4832092"/>
          </a:xfrm>
          <a:prstGeom prst="rect">
            <a:avLst/>
          </a:prstGeom>
          <a:noFill/>
        </p:spPr>
        <p:txBody>
          <a:bodyPr wrap="square">
            <a:spAutoFit/>
          </a:bodyPr>
          <a:lstStyle/>
          <a:p>
            <a:r>
              <a:rPr lang="en-US" sz="2000" b="1" u="sng" dirty="0">
                <a:latin typeface="Times New Roman" panose="02020603050405020304" pitchFamily="18" charset="0"/>
                <a:cs typeface="Times New Roman" panose="02020603050405020304" pitchFamily="18" charset="0"/>
              </a:rPr>
              <a:t>References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TechTarget, 2023. </a:t>
            </a:r>
            <a:r>
              <a:rPr lang="en-US" i="1" dirty="0">
                <a:latin typeface="Times New Roman" panose="02020603050405020304" pitchFamily="18" charset="0"/>
                <a:cs typeface="Times New Roman" panose="02020603050405020304" pitchFamily="18" charset="0"/>
              </a:rPr>
              <a:t>Computer network</a:t>
            </a:r>
            <a:r>
              <a:rPr lang="en-US" dirty="0">
                <a:latin typeface="Times New Roman" panose="02020603050405020304" pitchFamily="18" charset="0"/>
                <a:cs typeface="Times New Roman" panose="02020603050405020304" pitchFamily="18" charset="0"/>
              </a:rPr>
              <a:t>. [online] Available at: </a:t>
            </a:r>
            <a:r>
              <a:rPr lang="en-US" dirty="0">
                <a:latin typeface="Times New Roman" panose="02020603050405020304" pitchFamily="18" charset="0"/>
                <a:cs typeface="Times New Roman" panose="02020603050405020304" pitchFamily="18" charset="0"/>
                <a:hlinkClick r:id="rId2" action="ppaction://hlinkpres?slideindex=1&amp;slidetitle="/>
              </a:rPr>
              <a:t>https://www.techtarget.com/searchnetworking/definition/network </a:t>
            </a:r>
            <a:r>
              <a:rPr lang="en-US" dirty="0">
                <a:latin typeface="Times New Roman" panose="02020603050405020304" pitchFamily="18" charset="0"/>
                <a:cs typeface="Times New Roman" panose="02020603050405020304" pitchFamily="18" charset="0"/>
              </a:rPr>
              <a:t>[Accessed 21 Jul. 2025].</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Cisco, 2023. </a:t>
            </a:r>
            <a:r>
              <a:rPr lang="en-US" i="1" dirty="0">
                <a:latin typeface="Times New Roman" panose="02020603050405020304" pitchFamily="18" charset="0"/>
                <a:cs typeface="Times New Roman" panose="02020603050405020304" pitchFamily="18" charset="0"/>
              </a:rPr>
              <a:t>Types of Networks: LAN, MAN, and WAN</a:t>
            </a:r>
            <a:r>
              <a:rPr lang="en-US" dirty="0">
                <a:latin typeface="Times New Roman" panose="02020603050405020304" pitchFamily="18" charset="0"/>
                <a:cs typeface="Times New Roman" panose="02020603050405020304" pitchFamily="18" charset="0"/>
              </a:rPr>
              <a:t>. [online] Available at: </a:t>
            </a:r>
            <a:r>
              <a:rPr lang="en-US" dirty="0">
                <a:latin typeface="Times New Roman" panose="02020603050405020304" pitchFamily="18" charset="0"/>
                <a:cs typeface="Times New Roman" panose="02020603050405020304" pitchFamily="18" charset="0"/>
                <a:hlinkClick r:id="rId2" action="ppaction://hlinkpres?slideindex=1&amp;slidetitle="/>
              </a:rPr>
              <a:t>https://www.cisco.com/c/en/us/solutions/small-business/resource-center/networking/what-is-a-network.html</a:t>
            </a:r>
            <a:r>
              <a:rPr lang="en-US" dirty="0">
                <a:latin typeface="Times New Roman" panose="02020603050405020304" pitchFamily="18" charset="0"/>
                <a:cs typeface="Times New Roman" panose="02020603050405020304" pitchFamily="18" charset="0"/>
              </a:rPr>
              <a:t> [Accessed 21 Jul. 2025].</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Cisco, 2024. </a:t>
            </a:r>
            <a:r>
              <a:rPr lang="en-US" i="1" dirty="0">
                <a:latin typeface="Times New Roman" panose="02020603050405020304" pitchFamily="18" charset="0"/>
                <a:cs typeface="Times New Roman" panose="02020603050405020304" pitchFamily="18" charset="0"/>
              </a:rPr>
              <a:t>Switches and Routers Explained</a:t>
            </a:r>
            <a:r>
              <a:rPr lang="en-US" dirty="0">
                <a:latin typeface="Times New Roman" panose="02020603050405020304" pitchFamily="18" charset="0"/>
                <a:cs typeface="Times New Roman" panose="02020603050405020304" pitchFamily="18" charset="0"/>
              </a:rPr>
              <a:t>. [online] Available at: </a:t>
            </a:r>
            <a:r>
              <a:rPr lang="en-US" dirty="0">
                <a:latin typeface="Times New Roman" panose="02020603050405020304" pitchFamily="18" charset="0"/>
                <a:cs typeface="Times New Roman" panose="02020603050405020304" pitchFamily="18" charset="0"/>
                <a:hlinkClick r:id="rId2" action="ppaction://hlinkpres?slideindex=1&amp;slidetitle="/>
              </a:rPr>
              <a:t>https://www.cisco.com/c/en/us/products/switches/what-is-a-switch.html </a:t>
            </a:r>
            <a:r>
              <a:rPr lang="en-US" dirty="0">
                <a:latin typeface="Times New Roman" panose="02020603050405020304" pitchFamily="18" charset="0"/>
                <a:cs typeface="Times New Roman" panose="02020603050405020304" pitchFamily="18" charset="0"/>
              </a:rPr>
              <a:t>[Accessed 21 Jul. 2025]</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Network Encyclopedia, 2024. </a:t>
            </a:r>
            <a:r>
              <a:rPr lang="en-US" i="1" dirty="0">
                <a:latin typeface="Times New Roman" panose="02020603050405020304" pitchFamily="18" charset="0"/>
                <a:cs typeface="Times New Roman" panose="02020603050405020304" pitchFamily="18" charset="0"/>
              </a:rPr>
              <a:t>Ping – Definition and Explanation</a:t>
            </a:r>
            <a:r>
              <a:rPr lang="en-US" dirty="0">
                <a:latin typeface="Times New Roman" panose="02020603050405020304" pitchFamily="18" charset="0"/>
                <a:cs typeface="Times New Roman" panose="02020603050405020304" pitchFamily="18" charset="0"/>
              </a:rPr>
              <a:t>. [online] Available at: </a:t>
            </a:r>
            <a:r>
              <a:rPr lang="en-US" dirty="0">
                <a:latin typeface="Times New Roman" panose="02020603050405020304" pitchFamily="18" charset="0"/>
                <a:cs typeface="Times New Roman" panose="02020603050405020304" pitchFamily="18" charset="0"/>
                <a:hlinkClick r:id="rId2" action="ppaction://hlinkpres?slideindex=1&amp;slidetitle="/>
              </a:rPr>
              <a:t>https://networkencyclopedia.com/ping/ </a:t>
            </a:r>
            <a:r>
              <a:rPr lang="en-US" dirty="0">
                <a:latin typeface="Times New Roman" panose="02020603050405020304" pitchFamily="18" charset="0"/>
                <a:cs typeface="Times New Roman" panose="02020603050405020304" pitchFamily="18" charset="0"/>
              </a:rPr>
              <a:t>[Accessed 21 Jul. 2025</a:t>
            </a:r>
          </a:p>
          <a:p>
            <a:endParaRPr lang="en-US" dirty="0">
              <a:latin typeface="Times New Roman" panose="02020603050405020304" pitchFamily="18" charset="0"/>
              <a:cs typeface="Times New Roman" panose="02020603050405020304" pitchFamily="18" charset="0"/>
            </a:endParaRPr>
          </a:p>
          <a:p>
            <a:r>
              <a:rPr lang="en-US" dirty="0"/>
              <a:t>Microsoft, 2023. </a:t>
            </a:r>
            <a:r>
              <a:rPr lang="en-US" i="1" dirty="0"/>
              <a:t>What is Active Directory?</a:t>
            </a:r>
            <a:r>
              <a:rPr lang="en-US" dirty="0"/>
              <a:t>. [online] Available at: </a:t>
            </a:r>
            <a:r>
              <a:rPr lang="en-US" dirty="0">
                <a:hlinkClick r:id="rId3"/>
              </a:rPr>
              <a:t>https://learn.microsoft.com/en-us/windows-server/identity/ad-ds/ad-ds-overview</a:t>
            </a:r>
            <a:r>
              <a:rPr lang="en-US" dirty="0"/>
              <a:t> [Accessed 21 Jul. 2025]</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56386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3E179AC5-C2F8-D3C5-0126-3FA16BC81834}"/>
              </a:ext>
            </a:extLst>
          </p:cNvPr>
          <p:cNvSpPr>
            <a:spLocks noGrp="1"/>
          </p:cNvSpPr>
          <p:nvPr>
            <p:ph type="title"/>
          </p:nvPr>
        </p:nvSpPr>
        <p:spPr>
          <a:xfrm>
            <a:off x="3087650" y="1706671"/>
            <a:ext cx="6239229" cy="1722329"/>
          </a:xfrm>
        </p:spPr>
        <p:txBody>
          <a:bodyPr>
            <a:normAutofit fontScale="90000"/>
          </a:bodyPr>
          <a:lstStyle/>
          <a:p>
            <a:pPr algn="ctr"/>
            <a:r>
              <a:rPr lang="en-US" sz="6000" dirty="0">
                <a:solidFill>
                  <a:schemeClr val="bg1"/>
                </a:solidFill>
                <a:latin typeface="Bernard MT Condensed" panose="02050806060905020404" pitchFamily="18" charset="0"/>
                <a:cs typeface="Arial" panose="020B0604020202020204" pitchFamily="34" charset="0"/>
              </a:rPr>
              <a:t>Thank you for your time and attention!</a:t>
            </a:r>
          </a:p>
        </p:txBody>
      </p:sp>
      <p:sp>
        <p:nvSpPr>
          <p:cNvPr id="5" name="Text Placeholder 7">
            <a:extLst>
              <a:ext uri="{FF2B5EF4-FFF2-40B4-BE49-F238E27FC236}">
                <a16:creationId xmlns:a16="http://schemas.microsoft.com/office/drawing/2014/main" id="{11B99C38-722D-6A48-5B31-9A4649C6C7B5}"/>
              </a:ext>
            </a:extLst>
          </p:cNvPr>
          <p:cNvSpPr txBox="1">
            <a:spLocks/>
          </p:cNvSpPr>
          <p:nvPr/>
        </p:nvSpPr>
        <p:spPr>
          <a:xfrm>
            <a:off x="3571647" y="4377083"/>
            <a:ext cx="9825099" cy="971342"/>
          </a:xfrm>
          <a:prstGeom prst="rect">
            <a:avLst/>
          </a:prstGeom>
        </p:spPr>
        <p:txBody>
          <a:bodyPr vert="horz" lIns="91440" tIns="45720" rIns="91440" bIns="45720" rtlCol="0" anchor="ctr">
            <a:normAutofit/>
          </a:bodyP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dirty="0">
                <a:solidFill>
                  <a:schemeClr val="bg1"/>
                </a:solidFill>
                <a:latin typeface="Times New Roman" panose="02020603050405020304" pitchFamily="18" charset="0"/>
                <a:cs typeface="Times New Roman" panose="02020603050405020304" pitchFamily="18" charset="0"/>
              </a:rPr>
              <a:t>Questions and Answers</a:t>
            </a:r>
          </a:p>
        </p:txBody>
      </p:sp>
      <p:sp>
        <p:nvSpPr>
          <p:cNvPr id="8" name="Slide Number Placeholder 7">
            <a:extLst>
              <a:ext uri="{FF2B5EF4-FFF2-40B4-BE49-F238E27FC236}">
                <a16:creationId xmlns:a16="http://schemas.microsoft.com/office/drawing/2014/main" id="{3DD1F9AA-7125-AD0D-52D1-0F2767D9B36C}"/>
              </a:ext>
            </a:extLst>
          </p:cNvPr>
          <p:cNvSpPr>
            <a:spLocks noGrp="1"/>
          </p:cNvSpPr>
          <p:nvPr>
            <p:ph type="sldNum" sz="quarter" idx="12"/>
          </p:nvPr>
        </p:nvSpPr>
        <p:spPr/>
        <p:txBody>
          <a:bodyPr/>
          <a:lstStyle/>
          <a:p>
            <a:fld id="{54092646-63C8-4ED7-BF80-A13A2D7A34BD}" type="slidenum">
              <a:rPr lang="en-US" smtClean="0">
                <a:solidFill>
                  <a:schemeClr val="tx1"/>
                </a:solidFill>
              </a:rPr>
              <a:t>24</a:t>
            </a:fld>
            <a:endParaRPr lang="en-US">
              <a:solidFill>
                <a:schemeClr val="tx1"/>
              </a:solidFill>
            </a:endParaRPr>
          </a:p>
        </p:txBody>
      </p:sp>
    </p:spTree>
    <p:extLst>
      <p:ext uri="{BB962C8B-B14F-4D97-AF65-F5344CB8AC3E}">
        <p14:creationId xmlns:p14="http://schemas.microsoft.com/office/powerpoint/2010/main" val="37983321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3323</TotalTime>
  <Words>3156</Words>
  <Application>Microsoft Office PowerPoint</Application>
  <PresentationFormat>Widescreen</PresentationFormat>
  <Paragraphs>363</Paragraphs>
  <Slides>24</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Aharoni</vt:lpstr>
      <vt:lpstr>Arial</vt:lpstr>
      <vt:lpstr>Bernard MT Condensed</vt:lpstr>
      <vt:lpstr>Calibri</vt:lpstr>
      <vt:lpstr>Calibri Light</vt:lpstr>
      <vt:lpstr>Times New Roman</vt:lpstr>
      <vt:lpstr>Wingdings</vt:lpstr>
      <vt:lpstr>Office Theme</vt:lpstr>
      <vt:lpstr>PowerPoint Presentation</vt:lpstr>
      <vt:lpstr>Content  1 Overview of Redco 2 Network Type 3 Devices and Tools Used in Redco Project 4 Security &amp; Access Technologies in Redco’s Network 5 Network Blueprint of Redco developments 6 Cisco Packet Tracer Implementation 7 IP Ping Testing 8 Packet Tracer Test Cases 9 virtual box 10 Active Directory Setup in VirtualBox 11 References 12 Conclusion    </vt:lpstr>
      <vt:lpstr>Overview of Redco </vt:lpstr>
      <vt:lpstr>Network Type  </vt:lpstr>
      <vt:lpstr>PowerPoint Presentation</vt:lpstr>
      <vt:lpstr>Network Topology </vt:lpstr>
      <vt:lpstr>Devices and Tools Used in Redco Project</vt:lpstr>
      <vt:lpstr>PowerPoint Presentation</vt:lpstr>
      <vt:lpstr>PowerPoint Presentation</vt:lpstr>
      <vt:lpstr>PowerPoint Presentation</vt:lpstr>
      <vt:lpstr>PowerPoint Presentation</vt:lpstr>
      <vt:lpstr>  Network Blueprint of Redco developments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for your time and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Dell</cp:lastModifiedBy>
  <cp:revision>16</cp:revision>
  <dcterms:created xsi:type="dcterms:W3CDTF">2025-07-20T07:08:55Z</dcterms:created>
  <dcterms:modified xsi:type="dcterms:W3CDTF">2025-08-14T05:26:04Z</dcterms:modified>
</cp:coreProperties>
</file>